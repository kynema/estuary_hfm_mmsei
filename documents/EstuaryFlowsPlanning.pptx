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2" r:id="rId3"/>
    <p:sldId id="257" r:id="rId4"/>
    <p:sldId id="263" r:id="rId5"/>
    <p:sldId id="258" r:id="rId6"/>
    <p:sldId id="259" r:id="rId7"/>
    <p:sldId id="260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50001"/>
    <a:srgbClr val="941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73"/>
  </p:normalViewPr>
  <p:slideViewPr>
    <p:cSldViewPr snapToGrid="0">
      <p:cViewPr varScale="1">
        <p:scale>
          <a:sx n="111" d="100"/>
          <a:sy n="111" d="100"/>
        </p:scale>
        <p:origin x="108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85523-2E60-2146-F5A0-837CCDB613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E7ED4D-B6EC-3E30-0B36-C15C6D3256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68BFA5-8928-14B9-E16E-60115D4AE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5C3EE-0E92-E049-96A4-8957ED5BE4D0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8AD1E5-97E6-600F-D37E-CAB89A7CD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82B2B4-CF27-255A-9BCC-B878CC479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8299E-C346-7348-B5AA-4515B3C151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1751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39CD1-DDED-FAF9-0730-4148B0BF3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99B8CA-ABF7-5DFC-89A1-CFA181C77D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378AA8-2F22-900A-99A9-56D0932C1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5C3EE-0E92-E049-96A4-8957ED5BE4D0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CE805D-1B2D-A523-2A7A-58FD4FD14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52FDC4-48BC-7BF3-2EDA-FE25DFFCD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8299E-C346-7348-B5AA-4515B3C151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3907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EED9B-B9AC-C49C-ABFD-4513AA82D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057F78-2291-4930-EE64-46993E8087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41EB03-0A74-6C3F-8205-D95ACAB50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5C3EE-0E92-E049-96A4-8957ED5BE4D0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8C4F96-F247-C319-601C-A70D646ED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6C5167-FA57-7127-CD24-1AFAC50AB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8299E-C346-7348-B5AA-4515B3C151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003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C7AF2-9CDB-126C-E1AF-82D44BE6E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45212F-5BE6-00B7-1888-1F4315561B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82846A-1D4B-37E3-3A4D-85B283C4E8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CB42BF-9F56-5C3B-2AF1-FB51A9FEF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5C3EE-0E92-E049-96A4-8957ED5BE4D0}" type="datetimeFigureOut">
              <a:rPr lang="en-US" smtClean="0"/>
              <a:t>4/7/26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7D30B9-CBFB-58D9-D78E-DD80508F1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96FA8E-5809-2B68-5A40-C4AC6B86F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8299E-C346-7348-B5AA-4515B3C151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497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AB84D-7330-03E3-13DC-A44E1543C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30001F-E4A9-2B8B-90B6-27310371CE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8D2BFC-7B03-3D24-7549-26E28E0B1B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90A01A-4354-F375-D79A-A6C0312C9C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F1F8A0-FEAA-BCE8-56D6-B4DB874951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B11D81-CBFE-598F-E5A0-0780104CB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5C3EE-0E92-E049-96A4-8957ED5BE4D0}" type="datetimeFigureOut">
              <a:rPr lang="en-US" smtClean="0"/>
              <a:t>4/7/26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0E85F4-675A-FBE4-E21D-9B8C5AB1E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A2DE8E-9508-5F36-E097-572E59FAA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8299E-C346-7348-B5AA-4515B3C151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82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CBEB4-09AE-1B6B-3DC9-452D8758D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A48881-E6F8-253A-A534-6120880E0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5C3EE-0E92-E049-96A4-8957ED5BE4D0}" type="datetimeFigureOut">
              <a:rPr lang="en-US" smtClean="0"/>
              <a:t>4/7/26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ECF8A1-1FB5-F0B0-7A17-131D9A041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D87803-69F3-212A-54B1-4D7DE5FFB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8299E-C346-7348-B5AA-4515B3C151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277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06D3D4-53D1-E142-502A-AA90A6950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5C3EE-0E92-E049-96A4-8957ED5BE4D0}" type="datetimeFigureOut">
              <a:rPr lang="en-US" smtClean="0"/>
              <a:t>4/7/26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B00CF8-0E91-95A9-9117-0EF998134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F7F72A-0DB6-84DB-1C07-F48058165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8299E-C346-7348-B5AA-4515B3C151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834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0D2A9-4BA1-AC0D-0AEC-4D18430C2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99086-B139-B0AD-2AFD-2FCBBA6ADC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4A52D5-0FB8-3997-053C-4237B8B987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421DB9-0E00-7220-F4B9-4480C1011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5C3EE-0E92-E049-96A4-8957ED5BE4D0}" type="datetimeFigureOut">
              <a:rPr lang="en-US" smtClean="0"/>
              <a:t>4/7/26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76B4CF-2893-2105-0AD7-4732A18B9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906126-CB98-7CF7-3028-C7EEBE45B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8299E-C346-7348-B5AA-4515B3C151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217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B5636-7791-8886-0321-23096DC9D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5D611F-67E3-4EE0-C71C-67398E7727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ECFE3D-0B58-E3A9-35B3-881AF4F947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E70A96-DE3F-7957-1792-4A8E5BD64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5C3EE-0E92-E049-96A4-8957ED5BE4D0}" type="datetimeFigureOut">
              <a:rPr lang="en-US" smtClean="0"/>
              <a:t>4/7/26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229D33-6BA9-B33A-B8E1-2CF8508A8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14204F-0E94-329D-717E-1747AEB12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8299E-C346-7348-B5AA-4515B3C151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438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77B93-BF7F-FEEB-5460-FE57D33FC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50BC4C-643E-2E43-99D6-2FA1CF5E02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29F144-6C19-7213-D289-5829A52CA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5C3EE-0E92-E049-96A4-8957ED5BE4D0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B2A3B-196E-E336-0732-BAA8E03ED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48D55C-4825-916C-0169-1332D59CE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8299E-C346-7348-B5AA-4515B3C151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229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380825-6C37-52DD-0444-A0D01472E5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4513C1-E88A-DDAC-F864-29A91EFA14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A5AE6B-215F-A4C8-2F93-917D5048B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5C3EE-0E92-E049-96A4-8957ED5BE4D0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838EC3-643A-84CD-67A3-CA2F53B6D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ADD836-0836-BC08-D9EE-2AAD380DC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8299E-C346-7348-B5AA-4515B3C151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566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028858-316F-2B85-6823-AC307578B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AFA283-D484-BF22-6DE7-24EB6A49E1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A1B939-2614-C7C8-EA0C-6F46841758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45C3EE-0E92-E049-96A4-8957ED5BE4D0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FE4F93-3D7D-B9F5-D07E-B19A17CE49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D880CF-F98C-71C5-0E65-DFC1C09E89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F8299E-C346-7348-B5AA-4515B3C151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853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97591-04C2-2370-B139-17A3B1EB91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Estuary Flows - Planning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4F94C9-4D61-743C-2DD6-8EFDA7343E5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4/7/26</a:t>
            </a:r>
          </a:p>
        </p:txBody>
      </p:sp>
    </p:spTree>
    <p:extLst>
      <p:ext uri="{BB962C8B-B14F-4D97-AF65-F5344CB8AC3E}">
        <p14:creationId xmlns:p14="http://schemas.microsoft.com/office/powerpoint/2010/main" val="3171516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B1FFC-A5E2-8AB2-A808-CB9F6B0D9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Milestone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5F8C7B-00F1-F40C-950D-4B3AABA204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By September 30, 2026, gather and document details necessary (e.g., use case, state of the art, bathymetry, inflow) to motivate and perform a simulation of an estuary flow under conditions for which field measurements exist. Perform high-fidelity simulation of estuary flow to investigate the flow/current structures that are resolved that would inform turbine siting.</a:t>
            </a:r>
          </a:p>
          <a:p>
            <a:endParaRPr lang="en-US" dirty="0"/>
          </a:p>
          <a:p>
            <a:r>
              <a:rPr lang="en-US" dirty="0"/>
              <a:t>Validate the capability against field measurements, and document any advantages compared to a regional-scale model typically used, e.g., FVCOM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19192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5243C-A6B3-5524-F473-8DFED7408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Rosario Straight, WA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E908E6-EF98-5029-A0E6-B430039925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 descr="Rosario Strait - Wikipedia">
            <a:extLst>
              <a:ext uri="{FF2B5EF4-FFF2-40B4-BE49-F238E27FC236}">
                <a16:creationId xmlns:a16="http://schemas.microsoft.com/office/drawing/2014/main" id="{79D0291E-5019-50FE-F2FB-7FAAB32FFE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053" y="1986264"/>
            <a:ext cx="4381500" cy="3924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40A1674-44BE-FCE2-70E6-26FE13406725}"/>
              </a:ext>
            </a:extLst>
          </p:cNvPr>
          <p:cNvCxnSpPr/>
          <p:nvPr/>
        </p:nvCxnSpPr>
        <p:spPr>
          <a:xfrm>
            <a:off x="6400800" y="3429000"/>
            <a:ext cx="3426106" cy="10388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A2D0997-AFE1-C670-EBCE-22CD6F414B41}"/>
              </a:ext>
            </a:extLst>
          </p:cNvPr>
          <p:cNvCxnSpPr/>
          <p:nvPr/>
        </p:nvCxnSpPr>
        <p:spPr>
          <a:xfrm>
            <a:off x="8425646" y="1825625"/>
            <a:ext cx="3426106" cy="10388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A769922-B6A6-A0D1-00C6-02A982904E69}"/>
              </a:ext>
            </a:extLst>
          </p:cNvPr>
          <p:cNvCxnSpPr>
            <a:cxnSpLocks/>
          </p:cNvCxnSpPr>
          <p:nvPr/>
        </p:nvCxnSpPr>
        <p:spPr>
          <a:xfrm flipV="1">
            <a:off x="6400800" y="1825625"/>
            <a:ext cx="2024846" cy="160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E0B41AA-2687-9D79-F7A8-50C181216236}"/>
              </a:ext>
            </a:extLst>
          </p:cNvPr>
          <p:cNvCxnSpPr>
            <a:cxnSpLocks/>
          </p:cNvCxnSpPr>
          <p:nvPr/>
        </p:nvCxnSpPr>
        <p:spPr>
          <a:xfrm flipV="1">
            <a:off x="9826906" y="2864453"/>
            <a:ext cx="2024846" cy="160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39A5158-98E2-9C63-9B74-A5EBD4773D15}"/>
              </a:ext>
            </a:extLst>
          </p:cNvPr>
          <p:cNvCxnSpPr/>
          <p:nvPr/>
        </p:nvCxnSpPr>
        <p:spPr>
          <a:xfrm>
            <a:off x="9826906" y="4467828"/>
            <a:ext cx="0" cy="6829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0CEDBD8-61BF-86EC-C7BE-23EFF4F8499D}"/>
              </a:ext>
            </a:extLst>
          </p:cNvPr>
          <p:cNvCxnSpPr/>
          <p:nvPr/>
        </p:nvCxnSpPr>
        <p:spPr>
          <a:xfrm>
            <a:off x="6400799" y="3429000"/>
            <a:ext cx="0" cy="6829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0BBE867-5A18-B98B-458C-A5B461127E6B}"/>
              </a:ext>
            </a:extLst>
          </p:cNvPr>
          <p:cNvCxnSpPr/>
          <p:nvPr/>
        </p:nvCxnSpPr>
        <p:spPr>
          <a:xfrm>
            <a:off x="8425646" y="1825625"/>
            <a:ext cx="0" cy="682906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206FD61-656A-FB36-7546-13AAD02F7688}"/>
              </a:ext>
            </a:extLst>
          </p:cNvPr>
          <p:cNvCxnSpPr/>
          <p:nvPr/>
        </p:nvCxnSpPr>
        <p:spPr>
          <a:xfrm>
            <a:off x="11851752" y="2864453"/>
            <a:ext cx="0" cy="682906"/>
          </a:xfrm>
          <a:prstGeom prst="line">
            <a:avLst/>
          </a:prstGeom>
          <a:ln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B99B26C-BDDB-A063-2B20-B890C36DF997}"/>
              </a:ext>
            </a:extLst>
          </p:cNvPr>
          <p:cNvCxnSpPr/>
          <p:nvPr/>
        </p:nvCxnSpPr>
        <p:spPr>
          <a:xfrm>
            <a:off x="6413098" y="4099307"/>
            <a:ext cx="3426106" cy="10388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B9D3817-E570-341E-335D-BAC3CCC3157F}"/>
              </a:ext>
            </a:extLst>
          </p:cNvPr>
          <p:cNvCxnSpPr/>
          <p:nvPr/>
        </p:nvCxnSpPr>
        <p:spPr>
          <a:xfrm>
            <a:off x="8437944" y="2495932"/>
            <a:ext cx="3426106" cy="1038828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DFCF660-DFB3-1586-C602-67955176070B}"/>
              </a:ext>
            </a:extLst>
          </p:cNvPr>
          <p:cNvCxnSpPr>
            <a:cxnSpLocks/>
          </p:cNvCxnSpPr>
          <p:nvPr/>
        </p:nvCxnSpPr>
        <p:spPr>
          <a:xfrm flipV="1">
            <a:off x="6413098" y="2495932"/>
            <a:ext cx="2024846" cy="1603375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346AD4E-A539-4EF0-DB8E-CB2FD0FD6C97}"/>
              </a:ext>
            </a:extLst>
          </p:cNvPr>
          <p:cNvCxnSpPr>
            <a:cxnSpLocks/>
          </p:cNvCxnSpPr>
          <p:nvPr/>
        </p:nvCxnSpPr>
        <p:spPr>
          <a:xfrm flipV="1">
            <a:off x="9839204" y="3534760"/>
            <a:ext cx="2024846" cy="160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Freeform 20">
            <a:extLst>
              <a:ext uri="{FF2B5EF4-FFF2-40B4-BE49-F238E27FC236}">
                <a16:creationId xmlns:a16="http://schemas.microsoft.com/office/drawing/2014/main" id="{A44465E7-09B5-9367-CBA7-A2106E15078A}"/>
              </a:ext>
            </a:extLst>
          </p:cNvPr>
          <p:cNvSpPr/>
          <p:nvPr/>
        </p:nvSpPr>
        <p:spPr>
          <a:xfrm>
            <a:off x="6377651" y="3657600"/>
            <a:ext cx="3437681" cy="1043559"/>
          </a:xfrm>
          <a:custGeom>
            <a:avLst/>
            <a:gdLst>
              <a:gd name="connsiteX0" fmla="*/ 0 w 3437681"/>
              <a:gd name="connsiteY0" fmla="*/ 0 h 1043559"/>
              <a:gd name="connsiteX1" fmla="*/ 81022 w 3437681"/>
              <a:gd name="connsiteY1" fmla="*/ 46299 h 1043559"/>
              <a:gd name="connsiteX2" fmla="*/ 173620 w 3437681"/>
              <a:gd name="connsiteY2" fmla="*/ 127322 h 1043559"/>
              <a:gd name="connsiteX3" fmla="*/ 196769 w 3437681"/>
              <a:gd name="connsiteY3" fmla="*/ 162046 h 1043559"/>
              <a:gd name="connsiteX4" fmla="*/ 219919 w 3437681"/>
              <a:gd name="connsiteY4" fmla="*/ 277792 h 1043559"/>
              <a:gd name="connsiteX5" fmla="*/ 289367 w 3437681"/>
              <a:gd name="connsiteY5" fmla="*/ 324091 h 1043559"/>
              <a:gd name="connsiteX6" fmla="*/ 347240 w 3437681"/>
              <a:gd name="connsiteY6" fmla="*/ 335666 h 1043559"/>
              <a:gd name="connsiteX7" fmla="*/ 590308 w 3437681"/>
              <a:gd name="connsiteY7" fmla="*/ 324091 h 1043559"/>
              <a:gd name="connsiteX8" fmla="*/ 625033 w 3437681"/>
              <a:gd name="connsiteY8" fmla="*/ 312516 h 1043559"/>
              <a:gd name="connsiteX9" fmla="*/ 775503 w 3437681"/>
              <a:gd name="connsiteY9" fmla="*/ 324091 h 1043559"/>
              <a:gd name="connsiteX10" fmla="*/ 810227 w 3437681"/>
              <a:gd name="connsiteY10" fmla="*/ 347241 h 1043559"/>
              <a:gd name="connsiteX11" fmla="*/ 844952 w 3437681"/>
              <a:gd name="connsiteY11" fmla="*/ 428263 h 1043559"/>
              <a:gd name="connsiteX12" fmla="*/ 868101 w 3437681"/>
              <a:gd name="connsiteY12" fmla="*/ 474562 h 1043559"/>
              <a:gd name="connsiteX13" fmla="*/ 879676 w 3437681"/>
              <a:gd name="connsiteY13" fmla="*/ 509286 h 1043559"/>
              <a:gd name="connsiteX14" fmla="*/ 949124 w 3437681"/>
              <a:gd name="connsiteY14" fmla="*/ 578734 h 1043559"/>
              <a:gd name="connsiteX15" fmla="*/ 1412111 w 3437681"/>
              <a:gd name="connsiteY15" fmla="*/ 555585 h 1043559"/>
              <a:gd name="connsiteX16" fmla="*/ 1527858 w 3437681"/>
              <a:gd name="connsiteY16" fmla="*/ 532435 h 1043559"/>
              <a:gd name="connsiteX17" fmla="*/ 1597306 w 3437681"/>
              <a:gd name="connsiteY17" fmla="*/ 509286 h 1043559"/>
              <a:gd name="connsiteX18" fmla="*/ 1632030 w 3437681"/>
              <a:gd name="connsiteY18" fmla="*/ 497711 h 1043559"/>
              <a:gd name="connsiteX19" fmla="*/ 1666754 w 3437681"/>
              <a:gd name="connsiteY19" fmla="*/ 486137 h 1043559"/>
              <a:gd name="connsiteX20" fmla="*/ 1701478 w 3437681"/>
              <a:gd name="connsiteY20" fmla="*/ 497711 h 1043559"/>
              <a:gd name="connsiteX21" fmla="*/ 1747777 w 3437681"/>
              <a:gd name="connsiteY21" fmla="*/ 555585 h 1043559"/>
              <a:gd name="connsiteX22" fmla="*/ 1782501 w 3437681"/>
              <a:gd name="connsiteY22" fmla="*/ 567159 h 1043559"/>
              <a:gd name="connsiteX23" fmla="*/ 1840374 w 3437681"/>
              <a:gd name="connsiteY23" fmla="*/ 613458 h 1043559"/>
              <a:gd name="connsiteX24" fmla="*/ 1898248 w 3437681"/>
              <a:gd name="connsiteY24" fmla="*/ 659757 h 1043559"/>
              <a:gd name="connsiteX25" fmla="*/ 1967696 w 3437681"/>
              <a:gd name="connsiteY25" fmla="*/ 682906 h 1043559"/>
              <a:gd name="connsiteX26" fmla="*/ 2002420 w 3437681"/>
              <a:gd name="connsiteY26" fmla="*/ 798653 h 1043559"/>
              <a:gd name="connsiteX27" fmla="*/ 2013995 w 3437681"/>
              <a:gd name="connsiteY27" fmla="*/ 844952 h 1043559"/>
              <a:gd name="connsiteX28" fmla="*/ 2083443 w 3437681"/>
              <a:gd name="connsiteY28" fmla="*/ 879676 h 1043559"/>
              <a:gd name="connsiteX29" fmla="*/ 2338086 w 3437681"/>
              <a:gd name="connsiteY29" fmla="*/ 891251 h 1043559"/>
              <a:gd name="connsiteX30" fmla="*/ 2349660 w 3437681"/>
              <a:gd name="connsiteY30" fmla="*/ 925975 h 1043559"/>
              <a:gd name="connsiteX31" fmla="*/ 2592729 w 3437681"/>
              <a:gd name="connsiteY31" fmla="*/ 937549 h 1043559"/>
              <a:gd name="connsiteX32" fmla="*/ 2708476 w 3437681"/>
              <a:gd name="connsiteY32" fmla="*/ 949124 h 1043559"/>
              <a:gd name="connsiteX33" fmla="*/ 2777924 w 3437681"/>
              <a:gd name="connsiteY33" fmla="*/ 937549 h 1043559"/>
              <a:gd name="connsiteX34" fmla="*/ 2916820 w 3437681"/>
              <a:gd name="connsiteY34" fmla="*/ 960699 h 1043559"/>
              <a:gd name="connsiteX35" fmla="*/ 3044141 w 3437681"/>
              <a:gd name="connsiteY35" fmla="*/ 983848 h 1043559"/>
              <a:gd name="connsiteX36" fmla="*/ 3067291 w 3437681"/>
              <a:gd name="connsiteY36" fmla="*/ 1006997 h 1043559"/>
              <a:gd name="connsiteX37" fmla="*/ 3090440 w 3437681"/>
              <a:gd name="connsiteY37" fmla="*/ 1041722 h 1043559"/>
              <a:gd name="connsiteX38" fmla="*/ 3368233 w 3437681"/>
              <a:gd name="connsiteY38" fmla="*/ 1030147 h 1043559"/>
              <a:gd name="connsiteX39" fmla="*/ 3437681 w 3437681"/>
              <a:gd name="connsiteY39" fmla="*/ 1030147 h 1043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3437681" h="1043559">
                <a:moveTo>
                  <a:pt x="0" y="0"/>
                </a:moveTo>
                <a:cubicBezTo>
                  <a:pt x="27007" y="15433"/>
                  <a:pt x="54779" y="29599"/>
                  <a:pt x="81022" y="46299"/>
                </a:cubicBezTo>
                <a:cubicBezTo>
                  <a:pt x="105720" y="62016"/>
                  <a:pt x="157873" y="103702"/>
                  <a:pt x="173620" y="127322"/>
                </a:cubicBezTo>
                <a:lnTo>
                  <a:pt x="196769" y="162046"/>
                </a:lnTo>
                <a:cubicBezTo>
                  <a:pt x="198223" y="170767"/>
                  <a:pt x="211285" y="260524"/>
                  <a:pt x="219919" y="277792"/>
                </a:cubicBezTo>
                <a:cubicBezTo>
                  <a:pt x="230514" y="298983"/>
                  <a:pt x="272447" y="318451"/>
                  <a:pt x="289367" y="324091"/>
                </a:cubicBezTo>
                <a:cubicBezTo>
                  <a:pt x="308031" y="330312"/>
                  <a:pt x="327949" y="331808"/>
                  <a:pt x="347240" y="335666"/>
                </a:cubicBezTo>
                <a:cubicBezTo>
                  <a:pt x="428263" y="331808"/>
                  <a:pt x="509474" y="330827"/>
                  <a:pt x="590308" y="324091"/>
                </a:cubicBezTo>
                <a:cubicBezTo>
                  <a:pt x="602467" y="323078"/>
                  <a:pt x="612832" y="312516"/>
                  <a:pt x="625033" y="312516"/>
                </a:cubicBezTo>
                <a:cubicBezTo>
                  <a:pt x="675338" y="312516"/>
                  <a:pt x="725346" y="320233"/>
                  <a:pt x="775503" y="324091"/>
                </a:cubicBezTo>
                <a:cubicBezTo>
                  <a:pt x="787078" y="331808"/>
                  <a:pt x="800390" y="337404"/>
                  <a:pt x="810227" y="347241"/>
                </a:cubicBezTo>
                <a:cubicBezTo>
                  <a:pt x="843067" y="380081"/>
                  <a:pt x="829013" y="385759"/>
                  <a:pt x="844952" y="428263"/>
                </a:cubicBezTo>
                <a:cubicBezTo>
                  <a:pt x="851010" y="444419"/>
                  <a:pt x="861304" y="458703"/>
                  <a:pt x="868101" y="474562"/>
                </a:cubicBezTo>
                <a:cubicBezTo>
                  <a:pt x="872907" y="485776"/>
                  <a:pt x="874220" y="498373"/>
                  <a:pt x="879676" y="509286"/>
                </a:cubicBezTo>
                <a:cubicBezTo>
                  <a:pt x="899986" y="549907"/>
                  <a:pt x="910472" y="549745"/>
                  <a:pt x="949124" y="578734"/>
                </a:cubicBezTo>
                <a:cubicBezTo>
                  <a:pt x="1125635" y="572647"/>
                  <a:pt x="1250088" y="574646"/>
                  <a:pt x="1412111" y="555585"/>
                </a:cubicBezTo>
                <a:cubicBezTo>
                  <a:pt x="1446426" y="551548"/>
                  <a:pt x="1493242" y="542820"/>
                  <a:pt x="1527858" y="532435"/>
                </a:cubicBezTo>
                <a:cubicBezTo>
                  <a:pt x="1551230" y="525423"/>
                  <a:pt x="1574157" y="517002"/>
                  <a:pt x="1597306" y="509286"/>
                </a:cubicBezTo>
                <a:lnTo>
                  <a:pt x="1632030" y="497711"/>
                </a:lnTo>
                <a:lnTo>
                  <a:pt x="1666754" y="486137"/>
                </a:lnTo>
                <a:cubicBezTo>
                  <a:pt x="1678329" y="489995"/>
                  <a:pt x="1691016" y="491434"/>
                  <a:pt x="1701478" y="497711"/>
                </a:cubicBezTo>
                <a:cubicBezTo>
                  <a:pt x="1748667" y="526024"/>
                  <a:pt x="1700468" y="517739"/>
                  <a:pt x="1747777" y="555585"/>
                </a:cubicBezTo>
                <a:cubicBezTo>
                  <a:pt x="1757304" y="563207"/>
                  <a:pt x="1770926" y="563301"/>
                  <a:pt x="1782501" y="567159"/>
                </a:cubicBezTo>
                <a:cubicBezTo>
                  <a:pt x="1838391" y="623051"/>
                  <a:pt x="1767373" y="555057"/>
                  <a:pt x="1840374" y="613458"/>
                </a:cubicBezTo>
                <a:cubicBezTo>
                  <a:pt x="1870439" y="637510"/>
                  <a:pt x="1858168" y="641944"/>
                  <a:pt x="1898248" y="659757"/>
                </a:cubicBezTo>
                <a:cubicBezTo>
                  <a:pt x="1920546" y="669667"/>
                  <a:pt x="1967696" y="682906"/>
                  <a:pt x="1967696" y="682906"/>
                </a:cubicBezTo>
                <a:cubicBezTo>
                  <a:pt x="2014654" y="729866"/>
                  <a:pt x="1984320" y="690056"/>
                  <a:pt x="2002420" y="798653"/>
                </a:cubicBezTo>
                <a:cubicBezTo>
                  <a:pt x="2005035" y="814345"/>
                  <a:pt x="2005171" y="831716"/>
                  <a:pt x="2013995" y="844952"/>
                </a:cubicBezTo>
                <a:cubicBezTo>
                  <a:pt x="2022787" y="858140"/>
                  <a:pt x="2067170" y="878374"/>
                  <a:pt x="2083443" y="879676"/>
                </a:cubicBezTo>
                <a:cubicBezTo>
                  <a:pt x="2168141" y="886452"/>
                  <a:pt x="2253205" y="887393"/>
                  <a:pt x="2338086" y="891251"/>
                </a:cubicBezTo>
                <a:cubicBezTo>
                  <a:pt x="2341944" y="902826"/>
                  <a:pt x="2343383" y="915513"/>
                  <a:pt x="2349660" y="925975"/>
                </a:cubicBezTo>
                <a:cubicBezTo>
                  <a:pt x="2395612" y="1002562"/>
                  <a:pt x="2557701" y="939393"/>
                  <a:pt x="2592729" y="937549"/>
                </a:cubicBezTo>
                <a:cubicBezTo>
                  <a:pt x="2631311" y="941407"/>
                  <a:pt x="2669701" y="949124"/>
                  <a:pt x="2708476" y="949124"/>
                </a:cubicBezTo>
                <a:cubicBezTo>
                  <a:pt x="2731945" y="949124"/>
                  <a:pt x="2754491" y="936247"/>
                  <a:pt x="2777924" y="937549"/>
                </a:cubicBezTo>
                <a:cubicBezTo>
                  <a:pt x="2824789" y="940153"/>
                  <a:pt x="2870577" y="952657"/>
                  <a:pt x="2916820" y="960699"/>
                </a:cubicBezTo>
                <a:lnTo>
                  <a:pt x="3044141" y="983848"/>
                </a:lnTo>
                <a:cubicBezTo>
                  <a:pt x="3051858" y="991564"/>
                  <a:pt x="3060474" y="998476"/>
                  <a:pt x="3067291" y="1006997"/>
                </a:cubicBezTo>
                <a:cubicBezTo>
                  <a:pt x="3075981" y="1017860"/>
                  <a:pt x="3076570" y="1040655"/>
                  <a:pt x="3090440" y="1041722"/>
                </a:cubicBezTo>
                <a:cubicBezTo>
                  <a:pt x="3182845" y="1048830"/>
                  <a:pt x="3275606" y="1033235"/>
                  <a:pt x="3368233" y="1030147"/>
                </a:cubicBezTo>
                <a:cubicBezTo>
                  <a:pt x="3391369" y="1029376"/>
                  <a:pt x="3414532" y="1030147"/>
                  <a:pt x="3437681" y="1030147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3C635F6C-7BA0-3997-9B25-7D092E0F2A1E}"/>
              </a:ext>
            </a:extLst>
          </p:cNvPr>
          <p:cNvSpPr/>
          <p:nvPr/>
        </p:nvSpPr>
        <p:spPr>
          <a:xfrm>
            <a:off x="9815332" y="3298754"/>
            <a:ext cx="2025569" cy="1400568"/>
          </a:xfrm>
          <a:custGeom>
            <a:avLst/>
            <a:gdLst>
              <a:gd name="connsiteX0" fmla="*/ 0 w 2025569"/>
              <a:gd name="connsiteY0" fmla="*/ 1400568 h 1400568"/>
              <a:gd name="connsiteX1" fmla="*/ 92597 w 2025569"/>
              <a:gd name="connsiteY1" fmla="*/ 1388993 h 1400568"/>
              <a:gd name="connsiteX2" fmla="*/ 162045 w 2025569"/>
              <a:gd name="connsiteY2" fmla="*/ 1365843 h 1400568"/>
              <a:gd name="connsiteX3" fmla="*/ 185195 w 2025569"/>
              <a:gd name="connsiteY3" fmla="*/ 1342694 h 1400568"/>
              <a:gd name="connsiteX4" fmla="*/ 243068 w 2025569"/>
              <a:gd name="connsiteY4" fmla="*/ 1296395 h 1400568"/>
              <a:gd name="connsiteX5" fmla="*/ 289367 w 2025569"/>
              <a:gd name="connsiteY5" fmla="*/ 1238522 h 1400568"/>
              <a:gd name="connsiteX6" fmla="*/ 405114 w 2025569"/>
              <a:gd name="connsiteY6" fmla="*/ 1203798 h 1400568"/>
              <a:gd name="connsiteX7" fmla="*/ 439838 w 2025569"/>
              <a:gd name="connsiteY7" fmla="*/ 1192223 h 1400568"/>
              <a:gd name="connsiteX8" fmla="*/ 509286 w 2025569"/>
              <a:gd name="connsiteY8" fmla="*/ 1145924 h 1400568"/>
              <a:gd name="connsiteX9" fmla="*/ 544010 w 2025569"/>
              <a:gd name="connsiteY9" fmla="*/ 1122775 h 1400568"/>
              <a:gd name="connsiteX10" fmla="*/ 578734 w 2025569"/>
              <a:gd name="connsiteY10" fmla="*/ 1099626 h 1400568"/>
              <a:gd name="connsiteX11" fmla="*/ 636607 w 2025569"/>
              <a:gd name="connsiteY11" fmla="*/ 1053327 h 1400568"/>
              <a:gd name="connsiteX12" fmla="*/ 682906 w 2025569"/>
              <a:gd name="connsiteY12" fmla="*/ 983879 h 1400568"/>
              <a:gd name="connsiteX13" fmla="*/ 706055 w 2025569"/>
              <a:gd name="connsiteY13" fmla="*/ 949155 h 1400568"/>
              <a:gd name="connsiteX14" fmla="*/ 798653 w 2025569"/>
              <a:gd name="connsiteY14" fmla="*/ 879707 h 1400568"/>
              <a:gd name="connsiteX15" fmla="*/ 833377 w 2025569"/>
              <a:gd name="connsiteY15" fmla="*/ 868132 h 1400568"/>
              <a:gd name="connsiteX16" fmla="*/ 844952 w 2025569"/>
              <a:gd name="connsiteY16" fmla="*/ 833408 h 1400568"/>
              <a:gd name="connsiteX17" fmla="*/ 960698 w 2025569"/>
              <a:gd name="connsiteY17" fmla="*/ 821833 h 1400568"/>
              <a:gd name="connsiteX18" fmla="*/ 995422 w 2025569"/>
              <a:gd name="connsiteY18" fmla="*/ 833408 h 1400568"/>
              <a:gd name="connsiteX19" fmla="*/ 1111169 w 2025569"/>
              <a:gd name="connsiteY19" fmla="*/ 810259 h 1400568"/>
              <a:gd name="connsiteX20" fmla="*/ 1169043 w 2025569"/>
              <a:gd name="connsiteY20" fmla="*/ 763960 h 1400568"/>
              <a:gd name="connsiteX21" fmla="*/ 1180617 w 2025569"/>
              <a:gd name="connsiteY21" fmla="*/ 729236 h 1400568"/>
              <a:gd name="connsiteX22" fmla="*/ 1215341 w 2025569"/>
              <a:gd name="connsiteY22" fmla="*/ 578765 h 1400568"/>
              <a:gd name="connsiteX23" fmla="*/ 1226916 w 2025569"/>
              <a:gd name="connsiteY23" fmla="*/ 544041 h 1400568"/>
              <a:gd name="connsiteX24" fmla="*/ 1250065 w 2025569"/>
              <a:gd name="connsiteY24" fmla="*/ 509317 h 1400568"/>
              <a:gd name="connsiteX25" fmla="*/ 1261640 w 2025569"/>
              <a:gd name="connsiteY25" fmla="*/ 474593 h 1400568"/>
              <a:gd name="connsiteX26" fmla="*/ 1319514 w 2025569"/>
              <a:gd name="connsiteY26" fmla="*/ 416719 h 1400568"/>
              <a:gd name="connsiteX27" fmla="*/ 1354238 w 2025569"/>
              <a:gd name="connsiteY27" fmla="*/ 312547 h 1400568"/>
              <a:gd name="connsiteX28" fmla="*/ 1365812 w 2025569"/>
              <a:gd name="connsiteY28" fmla="*/ 277823 h 1400568"/>
              <a:gd name="connsiteX29" fmla="*/ 1388962 w 2025569"/>
              <a:gd name="connsiteY29" fmla="*/ 254674 h 1400568"/>
              <a:gd name="connsiteX30" fmla="*/ 1412111 w 2025569"/>
              <a:gd name="connsiteY30" fmla="*/ 173651 h 1400568"/>
              <a:gd name="connsiteX31" fmla="*/ 1481559 w 2025569"/>
              <a:gd name="connsiteY31" fmla="*/ 92628 h 1400568"/>
              <a:gd name="connsiteX32" fmla="*/ 1805650 w 2025569"/>
              <a:gd name="connsiteY32" fmla="*/ 57904 h 1400568"/>
              <a:gd name="connsiteX33" fmla="*/ 1944546 w 2025569"/>
              <a:gd name="connsiteY33" fmla="*/ 23180 h 1400568"/>
              <a:gd name="connsiteX34" fmla="*/ 1979271 w 2025569"/>
              <a:gd name="connsiteY34" fmla="*/ 11605 h 1400568"/>
              <a:gd name="connsiteX35" fmla="*/ 2025569 w 2025569"/>
              <a:gd name="connsiteY35" fmla="*/ 31 h 1400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2025569" h="1400568">
                <a:moveTo>
                  <a:pt x="0" y="1400568"/>
                </a:moveTo>
                <a:cubicBezTo>
                  <a:pt x="30866" y="1396710"/>
                  <a:pt x="62182" y="1395511"/>
                  <a:pt x="92597" y="1388993"/>
                </a:cubicBezTo>
                <a:cubicBezTo>
                  <a:pt x="116457" y="1383880"/>
                  <a:pt x="162045" y="1365843"/>
                  <a:pt x="162045" y="1365843"/>
                </a:cubicBezTo>
                <a:cubicBezTo>
                  <a:pt x="169762" y="1358127"/>
                  <a:pt x="176673" y="1349511"/>
                  <a:pt x="185195" y="1342694"/>
                </a:cubicBezTo>
                <a:cubicBezTo>
                  <a:pt x="218619" y="1315955"/>
                  <a:pt x="218225" y="1327449"/>
                  <a:pt x="243068" y="1296395"/>
                </a:cubicBezTo>
                <a:cubicBezTo>
                  <a:pt x="253974" y="1282762"/>
                  <a:pt x="270733" y="1247839"/>
                  <a:pt x="289367" y="1238522"/>
                </a:cubicBezTo>
                <a:cubicBezTo>
                  <a:pt x="326041" y="1220185"/>
                  <a:pt x="366347" y="1214875"/>
                  <a:pt x="405114" y="1203798"/>
                </a:cubicBezTo>
                <a:cubicBezTo>
                  <a:pt x="416845" y="1200446"/>
                  <a:pt x="429173" y="1198148"/>
                  <a:pt x="439838" y="1192223"/>
                </a:cubicBezTo>
                <a:cubicBezTo>
                  <a:pt x="464159" y="1178711"/>
                  <a:pt x="486137" y="1161357"/>
                  <a:pt x="509286" y="1145924"/>
                </a:cubicBezTo>
                <a:lnTo>
                  <a:pt x="544010" y="1122775"/>
                </a:lnTo>
                <a:cubicBezTo>
                  <a:pt x="555585" y="1115059"/>
                  <a:pt x="568898" y="1109463"/>
                  <a:pt x="578734" y="1099626"/>
                </a:cubicBezTo>
                <a:cubicBezTo>
                  <a:pt x="611719" y="1066639"/>
                  <a:pt x="592803" y="1082529"/>
                  <a:pt x="636607" y="1053327"/>
                </a:cubicBezTo>
                <a:lnTo>
                  <a:pt x="682906" y="983879"/>
                </a:lnTo>
                <a:cubicBezTo>
                  <a:pt x="690622" y="972304"/>
                  <a:pt x="696218" y="958992"/>
                  <a:pt x="706055" y="949155"/>
                </a:cubicBezTo>
                <a:cubicBezTo>
                  <a:pt x="733478" y="921732"/>
                  <a:pt x="759387" y="892796"/>
                  <a:pt x="798653" y="879707"/>
                </a:cubicBezTo>
                <a:lnTo>
                  <a:pt x="833377" y="868132"/>
                </a:lnTo>
                <a:cubicBezTo>
                  <a:pt x="837235" y="856557"/>
                  <a:pt x="837330" y="842935"/>
                  <a:pt x="844952" y="833408"/>
                </a:cubicBezTo>
                <a:cubicBezTo>
                  <a:pt x="878326" y="791691"/>
                  <a:pt x="913069" y="815029"/>
                  <a:pt x="960698" y="821833"/>
                </a:cubicBezTo>
                <a:cubicBezTo>
                  <a:pt x="972273" y="825691"/>
                  <a:pt x="983221" y="833408"/>
                  <a:pt x="995422" y="833408"/>
                </a:cubicBezTo>
                <a:cubicBezTo>
                  <a:pt x="1048619" y="833408"/>
                  <a:pt x="1068408" y="824512"/>
                  <a:pt x="1111169" y="810259"/>
                </a:cubicBezTo>
                <a:cubicBezTo>
                  <a:pt x="1126937" y="799747"/>
                  <a:pt x="1158049" y="782283"/>
                  <a:pt x="1169043" y="763960"/>
                </a:cubicBezTo>
                <a:cubicBezTo>
                  <a:pt x="1175320" y="753498"/>
                  <a:pt x="1176759" y="740811"/>
                  <a:pt x="1180617" y="729236"/>
                </a:cubicBezTo>
                <a:cubicBezTo>
                  <a:pt x="1195643" y="624059"/>
                  <a:pt x="1183565" y="674092"/>
                  <a:pt x="1215341" y="578765"/>
                </a:cubicBezTo>
                <a:cubicBezTo>
                  <a:pt x="1219199" y="567190"/>
                  <a:pt x="1220148" y="554193"/>
                  <a:pt x="1226916" y="544041"/>
                </a:cubicBezTo>
                <a:cubicBezTo>
                  <a:pt x="1234632" y="532466"/>
                  <a:pt x="1243844" y="521759"/>
                  <a:pt x="1250065" y="509317"/>
                </a:cubicBezTo>
                <a:cubicBezTo>
                  <a:pt x="1255521" y="498404"/>
                  <a:pt x="1254319" y="484354"/>
                  <a:pt x="1261640" y="474593"/>
                </a:cubicBezTo>
                <a:cubicBezTo>
                  <a:pt x="1278009" y="452767"/>
                  <a:pt x="1319514" y="416719"/>
                  <a:pt x="1319514" y="416719"/>
                </a:cubicBezTo>
                <a:lnTo>
                  <a:pt x="1354238" y="312547"/>
                </a:lnTo>
                <a:cubicBezTo>
                  <a:pt x="1358096" y="300972"/>
                  <a:pt x="1357185" y="286450"/>
                  <a:pt x="1365812" y="277823"/>
                </a:cubicBezTo>
                <a:lnTo>
                  <a:pt x="1388962" y="254674"/>
                </a:lnTo>
                <a:cubicBezTo>
                  <a:pt x="1392672" y="239834"/>
                  <a:pt x="1403806" y="190260"/>
                  <a:pt x="1412111" y="173651"/>
                </a:cubicBezTo>
                <a:cubicBezTo>
                  <a:pt x="1422479" y="152916"/>
                  <a:pt x="1464471" y="98324"/>
                  <a:pt x="1481559" y="92628"/>
                </a:cubicBezTo>
                <a:cubicBezTo>
                  <a:pt x="1631615" y="42610"/>
                  <a:pt x="1526631" y="70587"/>
                  <a:pt x="1805650" y="57904"/>
                </a:cubicBezTo>
                <a:cubicBezTo>
                  <a:pt x="1899169" y="42318"/>
                  <a:pt x="1852832" y="53752"/>
                  <a:pt x="1944546" y="23180"/>
                </a:cubicBezTo>
                <a:lnTo>
                  <a:pt x="1979271" y="11605"/>
                </a:lnTo>
                <a:cubicBezTo>
                  <a:pt x="2017654" y="-1189"/>
                  <a:pt x="2001795" y="31"/>
                  <a:pt x="2025569" y="31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27DE106-BA68-23CB-811F-5522E192E753}"/>
              </a:ext>
            </a:extLst>
          </p:cNvPr>
          <p:cNvCxnSpPr>
            <a:cxnSpLocks/>
          </p:cNvCxnSpPr>
          <p:nvPr/>
        </p:nvCxnSpPr>
        <p:spPr>
          <a:xfrm flipV="1">
            <a:off x="6724891" y="4007175"/>
            <a:ext cx="1076808" cy="8289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40040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B1FFC-A5E2-8AB2-A808-CB9F6B0D9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 Description of Milestone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5F8C7B-00F1-F40C-950D-4B3AABA204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pPr marL="0" marR="0" lvl="0" indent="0">
              <a:spcBef>
                <a:spcPts val="0"/>
              </a:spcBef>
              <a:spcAft>
                <a:spcPts val="0"/>
              </a:spcAft>
              <a:buNone/>
              <a:tabLst>
                <a:tab pos="457200" algn="l"/>
              </a:tabLst>
            </a:pPr>
            <a:r>
              <a:rPr lang="en-US" sz="2000" dirty="0">
                <a:solidFill>
                  <a:srgbClr val="0070C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*With Turbine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  <a:tabLst>
                <a:tab pos="457200" algn="l"/>
              </a:tabLst>
            </a:pPr>
            <a:endParaRPr lang="en-US" sz="20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AMR-Wind will read in mesoscale flow from precursor FVCOM simulation, informing the velocity and volume fraction (and thereby, density) fields at the boundary.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  <a:tabLst>
                <a:tab pos="457200" algn="l"/>
              </a:tabLst>
            </a:pPr>
            <a:endParaRPr lang="en-US" sz="20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AMR-Wind will model bathymetry using the existing immersed boundary forcing method (IBFM). The wall effects will be handled using existing LES-compatible wall models.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  <a:tabLst>
                <a:tab pos="457200" algn="l"/>
              </a:tabLst>
            </a:pPr>
            <a:endParaRPr lang="en-US" sz="20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2000" dirty="0">
                <a:solidFill>
                  <a:srgbClr val="0070C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AMR-Wind will represent the turbine and any associated structures using actuator-based methods, coupled with </a:t>
            </a:r>
            <a:r>
              <a:rPr lang="en-US" sz="2000" dirty="0" err="1">
                <a:solidFill>
                  <a:srgbClr val="0070C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Kynema</a:t>
            </a:r>
            <a:r>
              <a:rPr lang="en-US" sz="2000" dirty="0">
                <a:solidFill>
                  <a:srgbClr val="0070C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to calculate the structural dynamics.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  <a:tabLst>
                <a:tab pos="457200" algn="l"/>
              </a:tabLst>
            </a:pPr>
            <a:endParaRPr lang="en-US" sz="20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2000" dirty="0" err="1">
                <a:solidFill>
                  <a:srgbClr val="0070C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Kynema</a:t>
            </a:r>
            <a:r>
              <a:rPr lang="en-US" sz="2000" dirty="0">
                <a:solidFill>
                  <a:srgbClr val="0070C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will calculate the forces on the turbine and any associated structures with its aerodynamics module, which will include added mass effects due to the high density of water.</a:t>
            </a:r>
            <a:endParaRPr lang="en-US" sz="20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9334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5243C-A6B3-5524-F473-8DFED7408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Categories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E908E6-EF98-5029-A0E6-B430039925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16299" cy="4667250"/>
          </a:xfrm>
        </p:spPr>
        <p:txBody>
          <a:bodyPr/>
          <a:lstStyle/>
          <a:p>
            <a:r>
              <a:rPr lang="en-US" dirty="0"/>
              <a:t>Implementation of required features</a:t>
            </a:r>
          </a:p>
          <a:p>
            <a:r>
              <a:rPr lang="en-US" dirty="0"/>
              <a:t>Validation of simpler cases with relevant capabilities</a:t>
            </a:r>
          </a:p>
          <a:p>
            <a:r>
              <a:rPr lang="en-US" dirty="0"/>
              <a:t>Practicing similar cases to prepare for milestone run</a:t>
            </a:r>
          </a:p>
          <a:p>
            <a:r>
              <a:rPr lang="en-US" dirty="0"/>
              <a:t>Data gathering and prep for milestone run</a:t>
            </a:r>
          </a:p>
          <a:p>
            <a:r>
              <a:rPr lang="en-US" dirty="0"/>
              <a:t>Evaluate milestone results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40A1674-44BE-FCE2-70E6-26FE13406725}"/>
              </a:ext>
            </a:extLst>
          </p:cNvPr>
          <p:cNvCxnSpPr/>
          <p:nvPr/>
        </p:nvCxnSpPr>
        <p:spPr>
          <a:xfrm>
            <a:off x="6400800" y="3429000"/>
            <a:ext cx="3426106" cy="10388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A2D0997-AFE1-C670-EBCE-22CD6F414B41}"/>
              </a:ext>
            </a:extLst>
          </p:cNvPr>
          <p:cNvCxnSpPr/>
          <p:nvPr/>
        </p:nvCxnSpPr>
        <p:spPr>
          <a:xfrm>
            <a:off x="8425646" y="1825625"/>
            <a:ext cx="3426106" cy="10388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A769922-B6A6-A0D1-00C6-02A982904E69}"/>
              </a:ext>
            </a:extLst>
          </p:cNvPr>
          <p:cNvCxnSpPr>
            <a:cxnSpLocks/>
          </p:cNvCxnSpPr>
          <p:nvPr/>
        </p:nvCxnSpPr>
        <p:spPr>
          <a:xfrm flipV="1">
            <a:off x="6400800" y="1825625"/>
            <a:ext cx="2024846" cy="160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E0B41AA-2687-9D79-F7A8-50C181216236}"/>
              </a:ext>
            </a:extLst>
          </p:cNvPr>
          <p:cNvCxnSpPr>
            <a:cxnSpLocks/>
          </p:cNvCxnSpPr>
          <p:nvPr/>
        </p:nvCxnSpPr>
        <p:spPr>
          <a:xfrm flipV="1">
            <a:off x="9826906" y="2864453"/>
            <a:ext cx="2024846" cy="160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39A5158-98E2-9C63-9B74-A5EBD4773D15}"/>
              </a:ext>
            </a:extLst>
          </p:cNvPr>
          <p:cNvCxnSpPr/>
          <p:nvPr/>
        </p:nvCxnSpPr>
        <p:spPr>
          <a:xfrm>
            <a:off x="9826906" y="4467828"/>
            <a:ext cx="0" cy="6829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0CEDBD8-61BF-86EC-C7BE-23EFF4F8499D}"/>
              </a:ext>
            </a:extLst>
          </p:cNvPr>
          <p:cNvCxnSpPr/>
          <p:nvPr/>
        </p:nvCxnSpPr>
        <p:spPr>
          <a:xfrm>
            <a:off x="6400799" y="3429000"/>
            <a:ext cx="0" cy="6829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0BBE867-5A18-B98B-458C-A5B461127E6B}"/>
              </a:ext>
            </a:extLst>
          </p:cNvPr>
          <p:cNvCxnSpPr/>
          <p:nvPr/>
        </p:nvCxnSpPr>
        <p:spPr>
          <a:xfrm>
            <a:off x="8425646" y="1825625"/>
            <a:ext cx="0" cy="682906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206FD61-656A-FB36-7546-13AAD02F7688}"/>
              </a:ext>
            </a:extLst>
          </p:cNvPr>
          <p:cNvCxnSpPr/>
          <p:nvPr/>
        </p:nvCxnSpPr>
        <p:spPr>
          <a:xfrm>
            <a:off x="11851752" y="2864453"/>
            <a:ext cx="0" cy="682906"/>
          </a:xfrm>
          <a:prstGeom prst="line">
            <a:avLst/>
          </a:prstGeom>
          <a:ln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B99B26C-BDDB-A063-2B20-B890C36DF997}"/>
              </a:ext>
            </a:extLst>
          </p:cNvPr>
          <p:cNvCxnSpPr/>
          <p:nvPr/>
        </p:nvCxnSpPr>
        <p:spPr>
          <a:xfrm>
            <a:off x="6413098" y="4099307"/>
            <a:ext cx="3426106" cy="10388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B9D3817-E570-341E-335D-BAC3CCC3157F}"/>
              </a:ext>
            </a:extLst>
          </p:cNvPr>
          <p:cNvCxnSpPr/>
          <p:nvPr/>
        </p:nvCxnSpPr>
        <p:spPr>
          <a:xfrm>
            <a:off x="8437944" y="2495932"/>
            <a:ext cx="3426106" cy="1038828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DFCF660-DFB3-1586-C602-67955176070B}"/>
              </a:ext>
            </a:extLst>
          </p:cNvPr>
          <p:cNvCxnSpPr>
            <a:cxnSpLocks/>
          </p:cNvCxnSpPr>
          <p:nvPr/>
        </p:nvCxnSpPr>
        <p:spPr>
          <a:xfrm flipV="1">
            <a:off x="6413098" y="2495932"/>
            <a:ext cx="2024846" cy="1603375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346AD4E-A539-4EF0-DB8E-CB2FD0FD6C97}"/>
              </a:ext>
            </a:extLst>
          </p:cNvPr>
          <p:cNvCxnSpPr>
            <a:cxnSpLocks/>
          </p:cNvCxnSpPr>
          <p:nvPr/>
        </p:nvCxnSpPr>
        <p:spPr>
          <a:xfrm flipV="1">
            <a:off x="9839204" y="3534760"/>
            <a:ext cx="2024846" cy="160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Freeform 20">
            <a:extLst>
              <a:ext uri="{FF2B5EF4-FFF2-40B4-BE49-F238E27FC236}">
                <a16:creationId xmlns:a16="http://schemas.microsoft.com/office/drawing/2014/main" id="{A44465E7-09B5-9367-CBA7-A2106E15078A}"/>
              </a:ext>
            </a:extLst>
          </p:cNvPr>
          <p:cNvSpPr/>
          <p:nvPr/>
        </p:nvSpPr>
        <p:spPr>
          <a:xfrm>
            <a:off x="6377651" y="3657600"/>
            <a:ext cx="3437681" cy="1043559"/>
          </a:xfrm>
          <a:custGeom>
            <a:avLst/>
            <a:gdLst>
              <a:gd name="connsiteX0" fmla="*/ 0 w 3437681"/>
              <a:gd name="connsiteY0" fmla="*/ 0 h 1043559"/>
              <a:gd name="connsiteX1" fmla="*/ 81022 w 3437681"/>
              <a:gd name="connsiteY1" fmla="*/ 46299 h 1043559"/>
              <a:gd name="connsiteX2" fmla="*/ 173620 w 3437681"/>
              <a:gd name="connsiteY2" fmla="*/ 127322 h 1043559"/>
              <a:gd name="connsiteX3" fmla="*/ 196769 w 3437681"/>
              <a:gd name="connsiteY3" fmla="*/ 162046 h 1043559"/>
              <a:gd name="connsiteX4" fmla="*/ 219919 w 3437681"/>
              <a:gd name="connsiteY4" fmla="*/ 277792 h 1043559"/>
              <a:gd name="connsiteX5" fmla="*/ 289367 w 3437681"/>
              <a:gd name="connsiteY5" fmla="*/ 324091 h 1043559"/>
              <a:gd name="connsiteX6" fmla="*/ 347240 w 3437681"/>
              <a:gd name="connsiteY6" fmla="*/ 335666 h 1043559"/>
              <a:gd name="connsiteX7" fmla="*/ 590308 w 3437681"/>
              <a:gd name="connsiteY7" fmla="*/ 324091 h 1043559"/>
              <a:gd name="connsiteX8" fmla="*/ 625033 w 3437681"/>
              <a:gd name="connsiteY8" fmla="*/ 312516 h 1043559"/>
              <a:gd name="connsiteX9" fmla="*/ 775503 w 3437681"/>
              <a:gd name="connsiteY9" fmla="*/ 324091 h 1043559"/>
              <a:gd name="connsiteX10" fmla="*/ 810227 w 3437681"/>
              <a:gd name="connsiteY10" fmla="*/ 347241 h 1043559"/>
              <a:gd name="connsiteX11" fmla="*/ 844952 w 3437681"/>
              <a:gd name="connsiteY11" fmla="*/ 428263 h 1043559"/>
              <a:gd name="connsiteX12" fmla="*/ 868101 w 3437681"/>
              <a:gd name="connsiteY12" fmla="*/ 474562 h 1043559"/>
              <a:gd name="connsiteX13" fmla="*/ 879676 w 3437681"/>
              <a:gd name="connsiteY13" fmla="*/ 509286 h 1043559"/>
              <a:gd name="connsiteX14" fmla="*/ 949124 w 3437681"/>
              <a:gd name="connsiteY14" fmla="*/ 578734 h 1043559"/>
              <a:gd name="connsiteX15" fmla="*/ 1412111 w 3437681"/>
              <a:gd name="connsiteY15" fmla="*/ 555585 h 1043559"/>
              <a:gd name="connsiteX16" fmla="*/ 1527858 w 3437681"/>
              <a:gd name="connsiteY16" fmla="*/ 532435 h 1043559"/>
              <a:gd name="connsiteX17" fmla="*/ 1597306 w 3437681"/>
              <a:gd name="connsiteY17" fmla="*/ 509286 h 1043559"/>
              <a:gd name="connsiteX18" fmla="*/ 1632030 w 3437681"/>
              <a:gd name="connsiteY18" fmla="*/ 497711 h 1043559"/>
              <a:gd name="connsiteX19" fmla="*/ 1666754 w 3437681"/>
              <a:gd name="connsiteY19" fmla="*/ 486137 h 1043559"/>
              <a:gd name="connsiteX20" fmla="*/ 1701478 w 3437681"/>
              <a:gd name="connsiteY20" fmla="*/ 497711 h 1043559"/>
              <a:gd name="connsiteX21" fmla="*/ 1747777 w 3437681"/>
              <a:gd name="connsiteY21" fmla="*/ 555585 h 1043559"/>
              <a:gd name="connsiteX22" fmla="*/ 1782501 w 3437681"/>
              <a:gd name="connsiteY22" fmla="*/ 567159 h 1043559"/>
              <a:gd name="connsiteX23" fmla="*/ 1840374 w 3437681"/>
              <a:gd name="connsiteY23" fmla="*/ 613458 h 1043559"/>
              <a:gd name="connsiteX24" fmla="*/ 1898248 w 3437681"/>
              <a:gd name="connsiteY24" fmla="*/ 659757 h 1043559"/>
              <a:gd name="connsiteX25" fmla="*/ 1967696 w 3437681"/>
              <a:gd name="connsiteY25" fmla="*/ 682906 h 1043559"/>
              <a:gd name="connsiteX26" fmla="*/ 2002420 w 3437681"/>
              <a:gd name="connsiteY26" fmla="*/ 798653 h 1043559"/>
              <a:gd name="connsiteX27" fmla="*/ 2013995 w 3437681"/>
              <a:gd name="connsiteY27" fmla="*/ 844952 h 1043559"/>
              <a:gd name="connsiteX28" fmla="*/ 2083443 w 3437681"/>
              <a:gd name="connsiteY28" fmla="*/ 879676 h 1043559"/>
              <a:gd name="connsiteX29" fmla="*/ 2338086 w 3437681"/>
              <a:gd name="connsiteY29" fmla="*/ 891251 h 1043559"/>
              <a:gd name="connsiteX30" fmla="*/ 2349660 w 3437681"/>
              <a:gd name="connsiteY30" fmla="*/ 925975 h 1043559"/>
              <a:gd name="connsiteX31" fmla="*/ 2592729 w 3437681"/>
              <a:gd name="connsiteY31" fmla="*/ 937549 h 1043559"/>
              <a:gd name="connsiteX32" fmla="*/ 2708476 w 3437681"/>
              <a:gd name="connsiteY32" fmla="*/ 949124 h 1043559"/>
              <a:gd name="connsiteX33" fmla="*/ 2777924 w 3437681"/>
              <a:gd name="connsiteY33" fmla="*/ 937549 h 1043559"/>
              <a:gd name="connsiteX34" fmla="*/ 2916820 w 3437681"/>
              <a:gd name="connsiteY34" fmla="*/ 960699 h 1043559"/>
              <a:gd name="connsiteX35" fmla="*/ 3044141 w 3437681"/>
              <a:gd name="connsiteY35" fmla="*/ 983848 h 1043559"/>
              <a:gd name="connsiteX36" fmla="*/ 3067291 w 3437681"/>
              <a:gd name="connsiteY36" fmla="*/ 1006997 h 1043559"/>
              <a:gd name="connsiteX37" fmla="*/ 3090440 w 3437681"/>
              <a:gd name="connsiteY37" fmla="*/ 1041722 h 1043559"/>
              <a:gd name="connsiteX38" fmla="*/ 3368233 w 3437681"/>
              <a:gd name="connsiteY38" fmla="*/ 1030147 h 1043559"/>
              <a:gd name="connsiteX39" fmla="*/ 3437681 w 3437681"/>
              <a:gd name="connsiteY39" fmla="*/ 1030147 h 1043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3437681" h="1043559">
                <a:moveTo>
                  <a:pt x="0" y="0"/>
                </a:moveTo>
                <a:cubicBezTo>
                  <a:pt x="27007" y="15433"/>
                  <a:pt x="54779" y="29599"/>
                  <a:pt x="81022" y="46299"/>
                </a:cubicBezTo>
                <a:cubicBezTo>
                  <a:pt x="105720" y="62016"/>
                  <a:pt x="157873" y="103702"/>
                  <a:pt x="173620" y="127322"/>
                </a:cubicBezTo>
                <a:lnTo>
                  <a:pt x="196769" y="162046"/>
                </a:lnTo>
                <a:cubicBezTo>
                  <a:pt x="198223" y="170767"/>
                  <a:pt x="211285" y="260524"/>
                  <a:pt x="219919" y="277792"/>
                </a:cubicBezTo>
                <a:cubicBezTo>
                  <a:pt x="230514" y="298983"/>
                  <a:pt x="272447" y="318451"/>
                  <a:pt x="289367" y="324091"/>
                </a:cubicBezTo>
                <a:cubicBezTo>
                  <a:pt x="308031" y="330312"/>
                  <a:pt x="327949" y="331808"/>
                  <a:pt x="347240" y="335666"/>
                </a:cubicBezTo>
                <a:cubicBezTo>
                  <a:pt x="428263" y="331808"/>
                  <a:pt x="509474" y="330827"/>
                  <a:pt x="590308" y="324091"/>
                </a:cubicBezTo>
                <a:cubicBezTo>
                  <a:pt x="602467" y="323078"/>
                  <a:pt x="612832" y="312516"/>
                  <a:pt x="625033" y="312516"/>
                </a:cubicBezTo>
                <a:cubicBezTo>
                  <a:pt x="675338" y="312516"/>
                  <a:pt x="725346" y="320233"/>
                  <a:pt x="775503" y="324091"/>
                </a:cubicBezTo>
                <a:cubicBezTo>
                  <a:pt x="787078" y="331808"/>
                  <a:pt x="800390" y="337404"/>
                  <a:pt x="810227" y="347241"/>
                </a:cubicBezTo>
                <a:cubicBezTo>
                  <a:pt x="843067" y="380081"/>
                  <a:pt x="829013" y="385759"/>
                  <a:pt x="844952" y="428263"/>
                </a:cubicBezTo>
                <a:cubicBezTo>
                  <a:pt x="851010" y="444419"/>
                  <a:pt x="861304" y="458703"/>
                  <a:pt x="868101" y="474562"/>
                </a:cubicBezTo>
                <a:cubicBezTo>
                  <a:pt x="872907" y="485776"/>
                  <a:pt x="874220" y="498373"/>
                  <a:pt x="879676" y="509286"/>
                </a:cubicBezTo>
                <a:cubicBezTo>
                  <a:pt x="899986" y="549907"/>
                  <a:pt x="910472" y="549745"/>
                  <a:pt x="949124" y="578734"/>
                </a:cubicBezTo>
                <a:cubicBezTo>
                  <a:pt x="1125635" y="572647"/>
                  <a:pt x="1250088" y="574646"/>
                  <a:pt x="1412111" y="555585"/>
                </a:cubicBezTo>
                <a:cubicBezTo>
                  <a:pt x="1446426" y="551548"/>
                  <a:pt x="1493242" y="542820"/>
                  <a:pt x="1527858" y="532435"/>
                </a:cubicBezTo>
                <a:cubicBezTo>
                  <a:pt x="1551230" y="525423"/>
                  <a:pt x="1574157" y="517002"/>
                  <a:pt x="1597306" y="509286"/>
                </a:cubicBezTo>
                <a:lnTo>
                  <a:pt x="1632030" y="497711"/>
                </a:lnTo>
                <a:lnTo>
                  <a:pt x="1666754" y="486137"/>
                </a:lnTo>
                <a:cubicBezTo>
                  <a:pt x="1678329" y="489995"/>
                  <a:pt x="1691016" y="491434"/>
                  <a:pt x="1701478" y="497711"/>
                </a:cubicBezTo>
                <a:cubicBezTo>
                  <a:pt x="1748667" y="526024"/>
                  <a:pt x="1700468" y="517739"/>
                  <a:pt x="1747777" y="555585"/>
                </a:cubicBezTo>
                <a:cubicBezTo>
                  <a:pt x="1757304" y="563207"/>
                  <a:pt x="1770926" y="563301"/>
                  <a:pt x="1782501" y="567159"/>
                </a:cubicBezTo>
                <a:cubicBezTo>
                  <a:pt x="1838391" y="623051"/>
                  <a:pt x="1767373" y="555057"/>
                  <a:pt x="1840374" y="613458"/>
                </a:cubicBezTo>
                <a:cubicBezTo>
                  <a:pt x="1870439" y="637510"/>
                  <a:pt x="1858168" y="641944"/>
                  <a:pt x="1898248" y="659757"/>
                </a:cubicBezTo>
                <a:cubicBezTo>
                  <a:pt x="1920546" y="669667"/>
                  <a:pt x="1967696" y="682906"/>
                  <a:pt x="1967696" y="682906"/>
                </a:cubicBezTo>
                <a:cubicBezTo>
                  <a:pt x="2014654" y="729866"/>
                  <a:pt x="1984320" y="690056"/>
                  <a:pt x="2002420" y="798653"/>
                </a:cubicBezTo>
                <a:cubicBezTo>
                  <a:pt x="2005035" y="814345"/>
                  <a:pt x="2005171" y="831716"/>
                  <a:pt x="2013995" y="844952"/>
                </a:cubicBezTo>
                <a:cubicBezTo>
                  <a:pt x="2022787" y="858140"/>
                  <a:pt x="2067170" y="878374"/>
                  <a:pt x="2083443" y="879676"/>
                </a:cubicBezTo>
                <a:cubicBezTo>
                  <a:pt x="2168141" y="886452"/>
                  <a:pt x="2253205" y="887393"/>
                  <a:pt x="2338086" y="891251"/>
                </a:cubicBezTo>
                <a:cubicBezTo>
                  <a:pt x="2341944" y="902826"/>
                  <a:pt x="2343383" y="915513"/>
                  <a:pt x="2349660" y="925975"/>
                </a:cubicBezTo>
                <a:cubicBezTo>
                  <a:pt x="2395612" y="1002562"/>
                  <a:pt x="2557701" y="939393"/>
                  <a:pt x="2592729" y="937549"/>
                </a:cubicBezTo>
                <a:cubicBezTo>
                  <a:pt x="2631311" y="941407"/>
                  <a:pt x="2669701" y="949124"/>
                  <a:pt x="2708476" y="949124"/>
                </a:cubicBezTo>
                <a:cubicBezTo>
                  <a:pt x="2731945" y="949124"/>
                  <a:pt x="2754491" y="936247"/>
                  <a:pt x="2777924" y="937549"/>
                </a:cubicBezTo>
                <a:cubicBezTo>
                  <a:pt x="2824789" y="940153"/>
                  <a:pt x="2870577" y="952657"/>
                  <a:pt x="2916820" y="960699"/>
                </a:cubicBezTo>
                <a:lnTo>
                  <a:pt x="3044141" y="983848"/>
                </a:lnTo>
                <a:cubicBezTo>
                  <a:pt x="3051858" y="991564"/>
                  <a:pt x="3060474" y="998476"/>
                  <a:pt x="3067291" y="1006997"/>
                </a:cubicBezTo>
                <a:cubicBezTo>
                  <a:pt x="3075981" y="1017860"/>
                  <a:pt x="3076570" y="1040655"/>
                  <a:pt x="3090440" y="1041722"/>
                </a:cubicBezTo>
                <a:cubicBezTo>
                  <a:pt x="3182845" y="1048830"/>
                  <a:pt x="3275606" y="1033235"/>
                  <a:pt x="3368233" y="1030147"/>
                </a:cubicBezTo>
                <a:cubicBezTo>
                  <a:pt x="3391369" y="1029376"/>
                  <a:pt x="3414532" y="1030147"/>
                  <a:pt x="3437681" y="1030147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3C635F6C-7BA0-3997-9B25-7D092E0F2A1E}"/>
              </a:ext>
            </a:extLst>
          </p:cNvPr>
          <p:cNvSpPr/>
          <p:nvPr/>
        </p:nvSpPr>
        <p:spPr>
          <a:xfrm>
            <a:off x="9815332" y="3298754"/>
            <a:ext cx="2025569" cy="1400568"/>
          </a:xfrm>
          <a:custGeom>
            <a:avLst/>
            <a:gdLst>
              <a:gd name="connsiteX0" fmla="*/ 0 w 2025569"/>
              <a:gd name="connsiteY0" fmla="*/ 1400568 h 1400568"/>
              <a:gd name="connsiteX1" fmla="*/ 92597 w 2025569"/>
              <a:gd name="connsiteY1" fmla="*/ 1388993 h 1400568"/>
              <a:gd name="connsiteX2" fmla="*/ 162045 w 2025569"/>
              <a:gd name="connsiteY2" fmla="*/ 1365843 h 1400568"/>
              <a:gd name="connsiteX3" fmla="*/ 185195 w 2025569"/>
              <a:gd name="connsiteY3" fmla="*/ 1342694 h 1400568"/>
              <a:gd name="connsiteX4" fmla="*/ 243068 w 2025569"/>
              <a:gd name="connsiteY4" fmla="*/ 1296395 h 1400568"/>
              <a:gd name="connsiteX5" fmla="*/ 289367 w 2025569"/>
              <a:gd name="connsiteY5" fmla="*/ 1238522 h 1400568"/>
              <a:gd name="connsiteX6" fmla="*/ 405114 w 2025569"/>
              <a:gd name="connsiteY6" fmla="*/ 1203798 h 1400568"/>
              <a:gd name="connsiteX7" fmla="*/ 439838 w 2025569"/>
              <a:gd name="connsiteY7" fmla="*/ 1192223 h 1400568"/>
              <a:gd name="connsiteX8" fmla="*/ 509286 w 2025569"/>
              <a:gd name="connsiteY8" fmla="*/ 1145924 h 1400568"/>
              <a:gd name="connsiteX9" fmla="*/ 544010 w 2025569"/>
              <a:gd name="connsiteY9" fmla="*/ 1122775 h 1400568"/>
              <a:gd name="connsiteX10" fmla="*/ 578734 w 2025569"/>
              <a:gd name="connsiteY10" fmla="*/ 1099626 h 1400568"/>
              <a:gd name="connsiteX11" fmla="*/ 636607 w 2025569"/>
              <a:gd name="connsiteY11" fmla="*/ 1053327 h 1400568"/>
              <a:gd name="connsiteX12" fmla="*/ 682906 w 2025569"/>
              <a:gd name="connsiteY12" fmla="*/ 983879 h 1400568"/>
              <a:gd name="connsiteX13" fmla="*/ 706055 w 2025569"/>
              <a:gd name="connsiteY13" fmla="*/ 949155 h 1400568"/>
              <a:gd name="connsiteX14" fmla="*/ 798653 w 2025569"/>
              <a:gd name="connsiteY14" fmla="*/ 879707 h 1400568"/>
              <a:gd name="connsiteX15" fmla="*/ 833377 w 2025569"/>
              <a:gd name="connsiteY15" fmla="*/ 868132 h 1400568"/>
              <a:gd name="connsiteX16" fmla="*/ 844952 w 2025569"/>
              <a:gd name="connsiteY16" fmla="*/ 833408 h 1400568"/>
              <a:gd name="connsiteX17" fmla="*/ 960698 w 2025569"/>
              <a:gd name="connsiteY17" fmla="*/ 821833 h 1400568"/>
              <a:gd name="connsiteX18" fmla="*/ 995422 w 2025569"/>
              <a:gd name="connsiteY18" fmla="*/ 833408 h 1400568"/>
              <a:gd name="connsiteX19" fmla="*/ 1111169 w 2025569"/>
              <a:gd name="connsiteY19" fmla="*/ 810259 h 1400568"/>
              <a:gd name="connsiteX20" fmla="*/ 1169043 w 2025569"/>
              <a:gd name="connsiteY20" fmla="*/ 763960 h 1400568"/>
              <a:gd name="connsiteX21" fmla="*/ 1180617 w 2025569"/>
              <a:gd name="connsiteY21" fmla="*/ 729236 h 1400568"/>
              <a:gd name="connsiteX22" fmla="*/ 1215341 w 2025569"/>
              <a:gd name="connsiteY22" fmla="*/ 578765 h 1400568"/>
              <a:gd name="connsiteX23" fmla="*/ 1226916 w 2025569"/>
              <a:gd name="connsiteY23" fmla="*/ 544041 h 1400568"/>
              <a:gd name="connsiteX24" fmla="*/ 1250065 w 2025569"/>
              <a:gd name="connsiteY24" fmla="*/ 509317 h 1400568"/>
              <a:gd name="connsiteX25" fmla="*/ 1261640 w 2025569"/>
              <a:gd name="connsiteY25" fmla="*/ 474593 h 1400568"/>
              <a:gd name="connsiteX26" fmla="*/ 1319514 w 2025569"/>
              <a:gd name="connsiteY26" fmla="*/ 416719 h 1400568"/>
              <a:gd name="connsiteX27" fmla="*/ 1354238 w 2025569"/>
              <a:gd name="connsiteY27" fmla="*/ 312547 h 1400568"/>
              <a:gd name="connsiteX28" fmla="*/ 1365812 w 2025569"/>
              <a:gd name="connsiteY28" fmla="*/ 277823 h 1400568"/>
              <a:gd name="connsiteX29" fmla="*/ 1388962 w 2025569"/>
              <a:gd name="connsiteY29" fmla="*/ 254674 h 1400568"/>
              <a:gd name="connsiteX30" fmla="*/ 1412111 w 2025569"/>
              <a:gd name="connsiteY30" fmla="*/ 173651 h 1400568"/>
              <a:gd name="connsiteX31" fmla="*/ 1481559 w 2025569"/>
              <a:gd name="connsiteY31" fmla="*/ 92628 h 1400568"/>
              <a:gd name="connsiteX32" fmla="*/ 1805650 w 2025569"/>
              <a:gd name="connsiteY32" fmla="*/ 57904 h 1400568"/>
              <a:gd name="connsiteX33" fmla="*/ 1944546 w 2025569"/>
              <a:gd name="connsiteY33" fmla="*/ 23180 h 1400568"/>
              <a:gd name="connsiteX34" fmla="*/ 1979271 w 2025569"/>
              <a:gd name="connsiteY34" fmla="*/ 11605 h 1400568"/>
              <a:gd name="connsiteX35" fmla="*/ 2025569 w 2025569"/>
              <a:gd name="connsiteY35" fmla="*/ 31 h 1400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2025569" h="1400568">
                <a:moveTo>
                  <a:pt x="0" y="1400568"/>
                </a:moveTo>
                <a:cubicBezTo>
                  <a:pt x="30866" y="1396710"/>
                  <a:pt x="62182" y="1395511"/>
                  <a:pt x="92597" y="1388993"/>
                </a:cubicBezTo>
                <a:cubicBezTo>
                  <a:pt x="116457" y="1383880"/>
                  <a:pt x="162045" y="1365843"/>
                  <a:pt x="162045" y="1365843"/>
                </a:cubicBezTo>
                <a:cubicBezTo>
                  <a:pt x="169762" y="1358127"/>
                  <a:pt x="176673" y="1349511"/>
                  <a:pt x="185195" y="1342694"/>
                </a:cubicBezTo>
                <a:cubicBezTo>
                  <a:pt x="218619" y="1315955"/>
                  <a:pt x="218225" y="1327449"/>
                  <a:pt x="243068" y="1296395"/>
                </a:cubicBezTo>
                <a:cubicBezTo>
                  <a:pt x="253974" y="1282762"/>
                  <a:pt x="270733" y="1247839"/>
                  <a:pt x="289367" y="1238522"/>
                </a:cubicBezTo>
                <a:cubicBezTo>
                  <a:pt x="326041" y="1220185"/>
                  <a:pt x="366347" y="1214875"/>
                  <a:pt x="405114" y="1203798"/>
                </a:cubicBezTo>
                <a:cubicBezTo>
                  <a:pt x="416845" y="1200446"/>
                  <a:pt x="429173" y="1198148"/>
                  <a:pt x="439838" y="1192223"/>
                </a:cubicBezTo>
                <a:cubicBezTo>
                  <a:pt x="464159" y="1178711"/>
                  <a:pt x="486137" y="1161357"/>
                  <a:pt x="509286" y="1145924"/>
                </a:cubicBezTo>
                <a:lnTo>
                  <a:pt x="544010" y="1122775"/>
                </a:lnTo>
                <a:cubicBezTo>
                  <a:pt x="555585" y="1115059"/>
                  <a:pt x="568898" y="1109463"/>
                  <a:pt x="578734" y="1099626"/>
                </a:cubicBezTo>
                <a:cubicBezTo>
                  <a:pt x="611719" y="1066639"/>
                  <a:pt x="592803" y="1082529"/>
                  <a:pt x="636607" y="1053327"/>
                </a:cubicBezTo>
                <a:lnTo>
                  <a:pt x="682906" y="983879"/>
                </a:lnTo>
                <a:cubicBezTo>
                  <a:pt x="690622" y="972304"/>
                  <a:pt x="696218" y="958992"/>
                  <a:pt x="706055" y="949155"/>
                </a:cubicBezTo>
                <a:cubicBezTo>
                  <a:pt x="733478" y="921732"/>
                  <a:pt x="759387" y="892796"/>
                  <a:pt x="798653" y="879707"/>
                </a:cubicBezTo>
                <a:lnTo>
                  <a:pt x="833377" y="868132"/>
                </a:lnTo>
                <a:cubicBezTo>
                  <a:pt x="837235" y="856557"/>
                  <a:pt x="837330" y="842935"/>
                  <a:pt x="844952" y="833408"/>
                </a:cubicBezTo>
                <a:cubicBezTo>
                  <a:pt x="878326" y="791691"/>
                  <a:pt x="913069" y="815029"/>
                  <a:pt x="960698" y="821833"/>
                </a:cubicBezTo>
                <a:cubicBezTo>
                  <a:pt x="972273" y="825691"/>
                  <a:pt x="983221" y="833408"/>
                  <a:pt x="995422" y="833408"/>
                </a:cubicBezTo>
                <a:cubicBezTo>
                  <a:pt x="1048619" y="833408"/>
                  <a:pt x="1068408" y="824512"/>
                  <a:pt x="1111169" y="810259"/>
                </a:cubicBezTo>
                <a:cubicBezTo>
                  <a:pt x="1126937" y="799747"/>
                  <a:pt x="1158049" y="782283"/>
                  <a:pt x="1169043" y="763960"/>
                </a:cubicBezTo>
                <a:cubicBezTo>
                  <a:pt x="1175320" y="753498"/>
                  <a:pt x="1176759" y="740811"/>
                  <a:pt x="1180617" y="729236"/>
                </a:cubicBezTo>
                <a:cubicBezTo>
                  <a:pt x="1195643" y="624059"/>
                  <a:pt x="1183565" y="674092"/>
                  <a:pt x="1215341" y="578765"/>
                </a:cubicBezTo>
                <a:cubicBezTo>
                  <a:pt x="1219199" y="567190"/>
                  <a:pt x="1220148" y="554193"/>
                  <a:pt x="1226916" y="544041"/>
                </a:cubicBezTo>
                <a:cubicBezTo>
                  <a:pt x="1234632" y="532466"/>
                  <a:pt x="1243844" y="521759"/>
                  <a:pt x="1250065" y="509317"/>
                </a:cubicBezTo>
                <a:cubicBezTo>
                  <a:pt x="1255521" y="498404"/>
                  <a:pt x="1254319" y="484354"/>
                  <a:pt x="1261640" y="474593"/>
                </a:cubicBezTo>
                <a:cubicBezTo>
                  <a:pt x="1278009" y="452767"/>
                  <a:pt x="1319514" y="416719"/>
                  <a:pt x="1319514" y="416719"/>
                </a:cubicBezTo>
                <a:lnTo>
                  <a:pt x="1354238" y="312547"/>
                </a:lnTo>
                <a:cubicBezTo>
                  <a:pt x="1358096" y="300972"/>
                  <a:pt x="1357185" y="286450"/>
                  <a:pt x="1365812" y="277823"/>
                </a:cubicBezTo>
                <a:lnTo>
                  <a:pt x="1388962" y="254674"/>
                </a:lnTo>
                <a:cubicBezTo>
                  <a:pt x="1392672" y="239834"/>
                  <a:pt x="1403806" y="190260"/>
                  <a:pt x="1412111" y="173651"/>
                </a:cubicBezTo>
                <a:cubicBezTo>
                  <a:pt x="1422479" y="152916"/>
                  <a:pt x="1464471" y="98324"/>
                  <a:pt x="1481559" y="92628"/>
                </a:cubicBezTo>
                <a:cubicBezTo>
                  <a:pt x="1631615" y="42610"/>
                  <a:pt x="1526631" y="70587"/>
                  <a:pt x="1805650" y="57904"/>
                </a:cubicBezTo>
                <a:cubicBezTo>
                  <a:pt x="1899169" y="42318"/>
                  <a:pt x="1852832" y="53752"/>
                  <a:pt x="1944546" y="23180"/>
                </a:cubicBezTo>
                <a:lnTo>
                  <a:pt x="1979271" y="11605"/>
                </a:lnTo>
                <a:cubicBezTo>
                  <a:pt x="2017654" y="-1189"/>
                  <a:pt x="2001795" y="31"/>
                  <a:pt x="2025569" y="31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27DE106-BA68-23CB-811F-5522E192E753}"/>
              </a:ext>
            </a:extLst>
          </p:cNvPr>
          <p:cNvCxnSpPr>
            <a:cxnSpLocks/>
          </p:cNvCxnSpPr>
          <p:nvPr/>
        </p:nvCxnSpPr>
        <p:spPr>
          <a:xfrm flipV="1">
            <a:off x="6724891" y="4007175"/>
            <a:ext cx="1076808" cy="8289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1366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5243C-A6B3-5524-F473-8DFED7408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Capabilities that need V&amp;V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E908E6-EF98-5029-A0E6-B430039925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1100" y="1435261"/>
            <a:ext cx="6085144" cy="5057614"/>
          </a:xfrm>
        </p:spPr>
        <p:txBody>
          <a:bodyPr>
            <a:normAutofit/>
          </a:bodyPr>
          <a:lstStyle/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Immersed Boundary Forcing Method (IBFM)</a:t>
            </a:r>
          </a:p>
          <a:p>
            <a:pPr marL="742950" marR="0" lvl="1" indent="-285750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Flat boundary case – laminar </a:t>
            </a:r>
          </a:p>
          <a:p>
            <a:pPr marL="742950" marR="0" lvl="1" indent="-285750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Non-flat boundary case – laminar</a:t>
            </a:r>
          </a:p>
          <a:p>
            <a:pPr marL="742950" marR="0" lvl="1" indent="-285750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Flat boundary case – using wall model</a:t>
            </a:r>
          </a:p>
          <a:p>
            <a:pPr marL="742950" marR="0" lvl="1" indent="-285750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Non-flat boundary case – using wall model</a:t>
            </a:r>
          </a:p>
          <a:p>
            <a:pPr marL="742950" marR="0" lvl="1" indent="-285750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endParaRPr lang="en-US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IBFM for underwater flows</a:t>
            </a:r>
          </a:p>
          <a:p>
            <a:pPr marL="742950" marR="0" lvl="1" indent="-285750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Simple channel – laminar</a:t>
            </a:r>
          </a:p>
          <a:p>
            <a:pPr marL="742950" marR="0" lvl="1" indent="-285750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Simple channel – using wall model</a:t>
            </a:r>
          </a:p>
          <a:p>
            <a:pPr marL="742950" marR="0" lvl="1" indent="-285750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Complex channel – using wall model</a:t>
            </a:r>
          </a:p>
          <a:p>
            <a:pPr marL="742950" marR="0" lvl="1" indent="-285750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endParaRPr lang="en-US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Current and sea surface rise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2400" dirty="0" err="1">
                <a:solidFill>
                  <a:srgbClr val="0070C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Kynema</a:t>
            </a:r>
            <a:r>
              <a:rPr lang="en-US" sz="2400" dirty="0">
                <a:solidFill>
                  <a:srgbClr val="0070C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added mass aero</a:t>
            </a:r>
            <a:endParaRPr lang="en-US" sz="24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40A1674-44BE-FCE2-70E6-26FE13406725}"/>
              </a:ext>
            </a:extLst>
          </p:cNvPr>
          <p:cNvCxnSpPr/>
          <p:nvPr/>
        </p:nvCxnSpPr>
        <p:spPr>
          <a:xfrm>
            <a:off x="6400800" y="3429000"/>
            <a:ext cx="3426106" cy="10388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A2D0997-AFE1-C670-EBCE-22CD6F414B41}"/>
              </a:ext>
            </a:extLst>
          </p:cNvPr>
          <p:cNvCxnSpPr/>
          <p:nvPr/>
        </p:nvCxnSpPr>
        <p:spPr>
          <a:xfrm>
            <a:off x="8425646" y="1825625"/>
            <a:ext cx="3426106" cy="10388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A769922-B6A6-A0D1-00C6-02A982904E69}"/>
              </a:ext>
            </a:extLst>
          </p:cNvPr>
          <p:cNvCxnSpPr>
            <a:cxnSpLocks/>
          </p:cNvCxnSpPr>
          <p:nvPr/>
        </p:nvCxnSpPr>
        <p:spPr>
          <a:xfrm flipV="1">
            <a:off x="6400800" y="1825625"/>
            <a:ext cx="2024846" cy="160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E0B41AA-2687-9D79-F7A8-50C181216236}"/>
              </a:ext>
            </a:extLst>
          </p:cNvPr>
          <p:cNvCxnSpPr>
            <a:cxnSpLocks/>
          </p:cNvCxnSpPr>
          <p:nvPr/>
        </p:nvCxnSpPr>
        <p:spPr>
          <a:xfrm flipV="1">
            <a:off x="9826906" y="2864453"/>
            <a:ext cx="2024846" cy="160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39A5158-98E2-9C63-9B74-A5EBD4773D15}"/>
              </a:ext>
            </a:extLst>
          </p:cNvPr>
          <p:cNvCxnSpPr/>
          <p:nvPr/>
        </p:nvCxnSpPr>
        <p:spPr>
          <a:xfrm>
            <a:off x="9826906" y="4467828"/>
            <a:ext cx="0" cy="6829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0CEDBD8-61BF-86EC-C7BE-23EFF4F8499D}"/>
              </a:ext>
            </a:extLst>
          </p:cNvPr>
          <p:cNvCxnSpPr/>
          <p:nvPr/>
        </p:nvCxnSpPr>
        <p:spPr>
          <a:xfrm>
            <a:off x="6400799" y="3429000"/>
            <a:ext cx="0" cy="6829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0BBE867-5A18-B98B-458C-A5B461127E6B}"/>
              </a:ext>
            </a:extLst>
          </p:cNvPr>
          <p:cNvCxnSpPr/>
          <p:nvPr/>
        </p:nvCxnSpPr>
        <p:spPr>
          <a:xfrm>
            <a:off x="8425646" y="1825625"/>
            <a:ext cx="0" cy="682906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206FD61-656A-FB36-7546-13AAD02F7688}"/>
              </a:ext>
            </a:extLst>
          </p:cNvPr>
          <p:cNvCxnSpPr/>
          <p:nvPr/>
        </p:nvCxnSpPr>
        <p:spPr>
          <a:xfrm>
            <a:off x="11851752" y="2864453"/>
            <a:ext cx="0" cy="682906"/>
          </a:xfrm>
          <a:prstGeom prst="line">
            <a:avLst/>
          </a:prstGeom>
          <a:ln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B99B26C-BDDB-A063-2B20-B890C36DF997}"/>
              </a:ext>
            </a:extLst>
          </p:cNvPr>
          <p:cNvCxnSpPr/>
          <p:nvPr/>
        </p:nvCxnSpPr>
        <p:spPr>
          <a:xfrm>
            <a:off x="6413098" y="4099307"/>
            <a:ext cx="3426106" cy="10388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B9D3817-E570-341E-335D-BAC3CCC3157F}"/>
              </a:ext>
            </a:extLst>
          </p:cNvPr>
          <p:cNvCxnSpPr/>
          <p:nvPr/>
        </p:nvCxnSpPr>
        <p:spPr>
          <a:xfrm>
            <a:off x="8437944" y="2495932"/>
            <a:ext cx="3426106" cy="1038828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DFCF660-DFB3-1586-C602-67955176070B}"/>
              </a:ext>
            </a:extLst>
          </p:cNvPr>
          <p:cNvCxnSpPr>
            <a:cxnSpLocks/>
          </p:cNvCxnSpPr>
          <p:nvPr/>
        </p:nvCxnSpPr>
        <p:spPr>
          <a:xfrm flipV="1">
            <a:off x="6413098" y="2495932"/>
            <a:ext cx="2024846" cy="1603375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346AD4E-A539-4EF0-DB8E-CB2FD0FD6C97}"/>
              </a:ext>
            </a:extLst>
          </p:cNvPr>
          <p:cNvCxnSpPr>
            <a:cxnSpLocks/>
          </p:cNvCxnSpPr>
          <p:nvPr/>
        </p:nvCxnSpPr>
        <p:spPr>
          <a:xfrm flipV="1">
            <a:off x="9839204" y="3534760"/>
            <a:ext cx="2024846" cy="160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Freeform 20">
            <a:extLst>
              <a:ext uri="{FF2B5EF4-FFF2-40B4-BE49-F238E27FC236}">
                <a16:creationId xmlns:a16="http://schemas.microsoft.com/office/drawing/2014/main" id="{A44465E7-09B5-9367-CBA7-A2106E15078A}"/>
              </a:ext>
            </a:extLst>
          </p:cNvPr>
          <p:cNvSpPr/>
          <p:nvPr/>
        </p:nvSpPr>
        <p:spPr>
          <a:xfrm>
            <a:off x="6377651" y="3657600"/>
            <a:ext cx="3437681" cy="1043559"/>
          </a:xfrm>
          <a:custGeom>
            <a:avLst/>
            <a:gdLst>
              <a:gd name="connsiteX0" fmla="*/ 0 w 3437681"/>
              <a:gd name="connsiteY0" fmla="*/ 0 h 1043559"/>
              <a:gd name="connsiteX1" fmla="*/ 81022 w 3437681"/>
              <a:gd name="connsiteY1" fmla="*/ 46299 h 1043559"/>
              <a:gd name="connsiteX2" fmla="*/ 173620 w 3437681"/>
              <a:gd name="connsiteY2" fmla="*/ 127322 h 1043559"/>
              <a:gd name="connsiteX3" fmla="*/ 196769 w 3437681"/>
              <a:gd name="connsiteY3" fmla="*/ 162046 h 1043559"/>
              <a:gd name="connsiteX4" fmla="*/ 219919 w 3437681"/>
              <a:gd name="connsiteY4" fmla="*/ 277792 h 1043559"/>
              <a:gd name="connsiteX5" fmla="*/ 289367 w 3437681"/>
              <a:gd name="connsiteY5" fmla="*/ 324091 h 1043559"/>
              <a:gd name="connsiteX6" fmla="*/ 347240 w 3437681"/>
              <a:gd name="connsiteY6" fmla="*/ 335666 h 1043559"/>
              <a:gd name="connsiteX7" fmla="*/ 590308 w 3437681"/>
              <a:gd name="connsiteY7" fmla="*/ 324091 h 1043559"/>
              <a:gd name="connsiteX8" fmla="*/ 625033 w 3437681"/>
              <a:gd name="connsiteY8" fmla="*/ 312516 h 1043559"/>
              <a:gd name="connsiteX9" fmla="*/ 775503 w 3437681"/>
              <a:gd name="connsiteY9" fmla="*/ 324091 h 1043559"/>
              <a:gd name="connsiteX10" fmla="*/ 810227 w 3437681"/>
              <a:gd name="connsiteY10" fmla="*/ 347241 h 1043559"/>
              <a:gd name="connsiteX11" fmla="*/ 844952 w 3437681"/>
              <a:gd name="connsiteY11" fmla="*/ 428263 h 1043559"/>
              <a:gd name="connsiteX12" fmla="*/ 868101 w 3437681"/>
              <a:gd name="connsiteY12" fmla="*/ 474562 h 1043559"/>
              <a:gd name="connsiteX13" fmla="*/ 879676 w 3437681"/>
              <a:gd name="connsiteY13" fmla="*/ 509286 h 1043559"/>
              <a:gd name="connsiteX14" fmla="*/ 949124 w 3437681"/>
              <a:gd name="connsiteY14" fmla="*/ 578734 h 1043559"/>
              <a:gd name="connsiteX15" fmla="*/ 1412111 w 3437681"/>
              <a:gd name="connsiteY15" fmla="*/ 555585 h 1043559"/>
              <a:gd name="connsiteX16" fmla="*/ 1527858 w 3437681"/>
              <a:gd name="connsiteY16" fmla="*/ 532435 h 1043559"/>
              <a:gd name="connsiteX17" fmla="*/ 1597306 w 3437681"/>
              <a:gd name="connsiteY17" fmla="*/ 509286 h 1043559"/>
              <a:gd name="connsiteX18" fmla="*/ 1632030 w 3437681"/>
              <a:gd name="connsiteY18" fmla="*/ 497711 h 1043559"/>
              <a:gd name="connsiteX19" fmla="*/ 1666754 w 3437681"/>
              <a:gd name="connsiteY19" fmla="*/ 486137 h 1043559"/>
              <a:gd name="connsiteX20" fmla="*/ 1701478 w 3437681"/>
              <a:gd name="connsiteY20" fmla="*/ 497711 h 1043559"/>
              <a:gd name="connsiteX21" fmla="*/ 1747777 w 3437681"/>
              <a:gd name="connsiteY21" fmla="*/ 555585 h 1043559"/>
              <a:gd name="connsiteX22" fmla="*/ 1782501 w 3437681"/>
              <a:gd name="connsiteY22" fmla="*/ 567159 h 1043559"/>
              <a:gd name="connsiteX23" fmla="*/ 1840374 w 3437681"/>
              <a:gd name="connsiteY23" fmla="*/ 613458 h 1043559"/>
              <a:gd name="connsiteX24" fmla="*/ 1898248 w 3437681"/>
              <a:gd name="connsiteY24" fmla="*/ 659757 h 1043559"/>
              <a:gd name="connsiteX25" fmla="*/ 1967696 w 3437681"/>
              <a:gd name="connsiteY25" fmla="*/ 682906 h 1043559"/>
              <a:gd name="connsiteX26" fmla="*/ 2002420 w 3437681"/>
              <a:gd name="connsiteY26" fmla="*/ 798653 h 1043559"/>
              <a:gd name="connsiteX27" fmla="*/ 2013995 w 3437681"/>
              <a:gd name="connsiteY27" fmla="*/ 844952 h 1043559"/>
              <a:gd name="connsiteX28" fmla="*/ 2083443 w 3437681"/>
              <a:gd name="connsiteY28" fmla="*/ 879676 h 1043559"/>
              <a:gd name="connsiteX29" fmla="*/ 2338086 w 3437681"/>
              <a:gd name="connsiteY29" fmla="*/ 891251 h 1043559"/>
              <a:gd name="connsiteX30" fmla="*/ 2349660 w 3437681"/>
              <a:gd name="connsiteY30" fmla="*/ 925975 h 1043559"/>
              <a:gd name="connsiteX31" fmla="*/ 2592729 w 3437681"/>
              <a:gd name="connsiteY31" fmla="*/ 937549 h 1043559"/>
              <a:gd name="connsiteX32" fmla="*/ 2708476 w 3437681"/>
              <a:gd name="connsiteY32" fmla="*/ 949124 h 1043559"/>
              <a:gd name="connsiteX33" fmla="*/ 2777924 w 3437681"/>
              <a:gd name="connsiteY33" fmla="*/ 937549 h 1043559"/>
              <a:gd name="connsiteX34" fmla="*/ 2916820 w 3437681"/>
              <a:gd name="connsiteY34" fmla="*/ 960699 h 1043559"/>
              <a:gd name="connsiteX35" fmla="*/ 3044141 w 3437681"/>
              <a:gd name="connsiteY35" fmla="*/ 983848 h 1043559"/>
              <a:gd name="connsiteX36" fmla="*/ 3067291 w 3437681"/>
              <a:gd name="connsiteY36" fmla="*/ 1006997 h 1043559"/>
              <a:gd name="connsiteX37" fmla="*/ 3090440 w 3437681"/>
              <a:gd name="connsiteY37" fmla="*/ 1041722 h 1043559"/>
              <a:gd name="connsiteX38" fmla="*/ 3368233 w 3437681"/>
              <a:gd name="connsiteY38" fmla="*/ 1030147 h 1043559"/>
              <a:gd name="connsiteX39" fmla="*/ 3437681 w 3437681"/>
              <a:gd name="connsiteY39" fmla="*/ 1030147 h 1043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3437681" h="1043559">
                <a:moveTo>
                  <a:pt x="0" y="0"/>
                </a:moveTo>
                <a:cubicBezTo>
                  <a:pt x="27007" y="15433"/>
                  <a:pt x="54779" y="29599"/>
                  <a:pt x="81022" y="46299"/>
                </a:cubicBezTo>
                <a:cubicBezTo>
                  <a:pt x="105720" y="62016"/>
                  <a:pt x="157873" y="103702"/>
                  <a:pt x="173620" y="127322"/>
                </a:cubicBezTo>
                <a:lnTo>
                  <a:pt x="196769" y="162046"/>
                </a:lnTo>
                <a:cubicBezTo>
                  <a:pt x="198223" y="170767"/>
                  <a:pt x="211285" y="260524"/>
                  <a:pt x="219919" y="277792"/>
                </a:cubicBezTo>
                <a:cubicBezTo>
                  <a:pt x="230514" y="298983"/>
                  <a:pt x="272447" y="318451"/>
                  <a:pt x="289367" y="324091"/>
                </a:cubicBezTo>
                <a:cubicBezTo>
                  <a:pt x="308031" y="330312"/>
                  <a:pt x="327949" y="331808"/>
                  <a:pt x="347240" y="335666"/>
                </a:cubicBezTo>
                <a:cubicBezTo>
                  <a:pt x="428263" y="331808"/>
                  <a:pt x="509474" y="330827"/>
                  <a:pt x="590308" y="324091"/>
                </a:cubicBezTo>
                <a:cubicBezTo>
                  <a:pt x="602467" y="323078"/>
                  <a:pt x="612832" y="312516"/>
                  <a:pt x="625033" y="312516"/>
                </a:cubicBezTo>
                <a:cubicBezTo>
                  <a:pt x="675338" y="312516"/>
                  <a:pt x="725346" y="320233"/>
                  <a:pt x="775503" y="324091"/>
                </a:cubicBezTo>
                <a:cubicBezTo>
                  <a:pt x="787078" y="331808"/>
                  <a:pt x="800390" y="337404"/>
                  <a:pt x="810227" y="347241"/>
                </a:cubicBezTo>
                <a:cubicBezTo>
                  <a:pt x="843067" y="380081"/>
                  <a:pt x="829013" y="385759"/>
                  <a:pt x="844952" y="428263"/>
                </a:cubicBezTo>
                <a:cubicBezTo>
                  <a:pt x="851010" y="444419"/>
                  <a:pt x="861304" y="458703"/>
                  <a:pt x="868101" y="474562"/>
                </a:cubicBezTo>
                <a:cubicBezTo>
                  <a:pt x="872907" y="485776"/>
                  <a:pt x="874220" y="498373"/>
                  <a:pt x="879676" y="509286"/>
                </a:cubicBezTo>
                <a:cubicBezTo>
                  <a:pt x="899986" y="549907"/>
                  <a:pt x="910472" y="549745"/>
                  <a:pt x="949124" y="578734"/>
                </a:cubicBezTo>
                <a:cubicBezTo>
                  <a:pt x="1125635" y="572647"/>
                  <a:pt x="1250088" y="574646"/>
                  <a:pt x="1412111" y="555585"/>
                </a:cubicBezTo>
                <a:cubicBezTo>
                  <a:pt x="1446426" y="551548"/>
                  <a:pt x="1493242" y="542820"/>
                  <a:pt x="1527858" y="532435"/>
                </a:cubicBezTo>
                <a:cubicBezTo>
                  <a:pt x="1551230" y="525423"/>
                  <a:pt x="1574157" y="517002"/>
                  <a:pt x="1597306" y="509286"/>
                </a:cubicBezTo>
                <a:lnTo>
                  <a:pt x="1632030" y="497711"/>
                </a:lnTo>
                <a:lnTo>
                  <a:pt x="1666754" y="486137"/>
                </a:lnTo>
                <a:cubicBezTo>
                  <a:pt x="1678329" y="489995"/>
                  <a:pt x="1691016" y="491434"/>
                  <a:pt x="1701478" y="497711"/>
                </a:cubicBezTo>
                <a:cubicBezTo>
                  <a:pt x="1748667" y="526024"/>
                  <a:pt x="1700468" y="517739"/>
                  <a:pt x="1747777" y="555585"/>
                </a:cubicBezTo>
                <a:cubicBezTo>
                  <a:pt x="1757304" y="563207"/>
                  <a:pt x="1770926" y="563301"/>
                  <a:pt x="1782501" y="567159"/>
                </a:cubicBezTo>
                <a:cubicBezTo>
                  <a:pt x="1838391" y="623051"/>
                  <a:pt x="1767373" y="555057"/>
                  <a:pt x="1840374" y="613458"/>
                </a:cubicBezTo>
                <a:cubicBezTo>
                  <a:pt x="1870439" y="637510"/>
                  <a:pt x="1858168" y="641944"/>
                  <a:pt x="1898248" y="659757"/>
                </a:cubicBezTo>
                <a:cubicBezTo>
                  <a:pt x="1920546" y="669667"/>
                  <a:pt x="1967696" y="682906"/>
                  <a:pt x="1967696" y="682906"/>
                </a:cubicBezTo>
                <a:cubicBezTo>
                  <a:pt x="2014654" y="729866"/>
                  <a:pt x="1984320" y="690056"/>
                  <a:pt x="2002420" y="798653"/>
                </a:cubicBezTo>
                <a:cubicBezTo>
                  <a:pt x="2005035" y="814345"/>
                  <a:pt x="2005171" y="831716"/>
                  <a:pt x="2013995" y="844952"/>
                </a:cubicBezTo>
                <a:cubicBezTo>
                  <a:pt x="2022787" y="858140"/>
                  <a:pt x="2067170" y="878374"/>
                  <a:pt x="2083443" y="879676"/>
                </a:cubicBezTo>
                <a:cubicBezTo>
                  <a:pt x="2168141" y="886452"/>
                  <a:pt x="2253205" y="887393"/>
                  <a:pt x="2338086" y="891251"/>
                </a:cubicBezTo>
                <a:cubicBezTo>
                  <a:pt x="2341944" y="902826"/>
                  <a:pt x="2343383" y="915513"/>
                  <a:pt x="2349660" y="925975"/>
                </a:cubicBezTo>
                <a:cubicBezTo>
                  <a:pt x="2395612" y="1002562"/>
                  <a:pt x="2557701" y="939393"/>
                  <a:pt x="2592729" y="937549"/>
                </a:cubicBezTo>
                <a:cubicBezTo>
                  <a:pt x="2631311" y="941407"/>
                  <a:pt x="2669701" y="949124"/>
                  <a:pt x="2708476" y="949124"/>
                </a:cubicBezTo>
                <a:cubicBezTo>
                  <a:pt x="2731945" y="949124"/>
                  <a:pt x="2754491" y="936247"/>
                  <a:pt x="2777924" y="937549"/>
                </a:cubicBezTo>
                <a:cubicBezTo>
                  <a:pt x="2824789" y="940153"/>
                  <a:pt x="2870577" y="952657"/>
                  <a:pt x="2916820" y="960699"/>
                </a:cubicBezTo>
                <a:lnTo>
                  <a:pt x="3044141" y="983848"/>
                </a:lnTo>
                <a:cubicBezTo>
                  <a:pt x="3051858" y="991564"/>
                  <a:pt x="3060474" y="998476"/>
                  <a:pt x="3067291" y="1006997"/>
                </a:cubicBezTo>
                <a:cubicBezTo>
                  <a:pt x="3075981" y="1017860"/>
                  <a:pt x="3076570" y="1040655"/>
                  <a:pt x="3090440" y="1041722"/>
                </a:cubicBezTo>
                <a:cubicBezTo>
                  <a:pt x="3182845" y="1048830"/>
                  <a:pt x="3275606" y="1033235"/>
                  <a:pt x="3368233" y="1030147"/>
                </a:cubicBezTo>
                <a:cubicBezTo>
                  <a:pt x="3391369" y="1029376"/>
                  <a:pt x="3414532" y="1030147"/>
                  <a:pt x="3437681" y="1030147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3C635F6C-7BA0-3997-9B25-7D092E0F2A1E}"/>
              </a:ext>
            </a:extLst>
          </p:cNvPr>
          <p:cNvSpPr/>
          <p:nvPr/>
        </p:nvSpPr>
        <p:spPr>
          <a:xfrm>
            <a:off x="9815332" y="3298754"/>
            <a:ext cx="2025569" cy="1400568"/>
          </a:xfrm>
          <a:custGeom>
            <a:avLst/>
            <a:gdLst>
              <a:gd name="connsiteX0" fmla="*/ 0 w 2025569"/>
              <a:gd name="connsiteY0" fmla="*/ 1400568 h 1400568"/>
              <a:gd name="connsiteX1" fmla="*/ 92597 w 2025569"/>
              <a:gd name="connsiteY1" fmla="*/ 1388993 h 1400568"/>
              <a:gd name="connsiteX2" fmla="*/ 162045 w 2025569"/>
              <a:gd name="connsiteY2" fmla="*/ 1365843 h 1400568"/>
              <a:gd name="connsiteX3" fmla="*/ 185195 w 2025569"/>
              <a:gd name="connsiteY3" fmla="*/ 1342694 h 1400568"/>
              <a:gd name="connsiteX4" fmla="*/ 243068 w 2025569"/>
              <a:gd name="connsiteY4" fmla="*/ 1296395 h 1400568"/>
              <a:gd name="connsiteX5" fmla="*/ 289367 w 2025569"/>
              <a:gd name="connsiteY5" fmla="*/ 1238522 h 1400568"/>
              <a:gd name="connsiteX6" fmla="*/ 405114 w 2025569"/>
              <a:gd name="connsiteY6" fmla="*/ 1203798 h 1400568"/>
              <a:gd name="connsiteX7" fmla="*/ 439838 w 2025569"/>
              <a:gd name="connsiteY7" fmla="*/ 1192223 h 1400568"/>
              <a:gd name="connsiteX8" fmla="*/ 509286 w 2025569"/>
              <a:gd name="connsiteY8" fmla="*/ 1145924 h 1400568"/>
              <a:gd name="connsiteX9" fmla="*/ 544010 w 2025569"/>
              <a:gd name="connsiteY9" fmla="*/ 1122775 h 1400568"/>
              <a:gd name="connsiteX10" fmla="*/ 578734 w 2025569"/>
              <a:gd name="connsiteY10" fmla="*/ 1099626 h 1400568"/>
              <a:gd name="connsiteX11" fmla="*/ 636607 w 2025569"/>
              <a:gd name="connsiteY11" fmla="*/ 1053327 h 1400568"/>
              <a:gd name="connsiteX12" fmla="*/ 682906 w 2025569"/>
              <a:gd name="connsiteY12" fmla="*/ 983879 h 1400568"/>
              <a:gd name="connsiteX13" fmla="*/ 706055 w 2025569"/>
              <a:gd name="connsiteY13" fmla="*/ 949155 h 1400568"/>
              <a:gd name="connsiteX14" fmla="*/ 798653 w 2025569"/>
              <a:gd name="connsiteY14" fmla="*/ 879707 h 1400568"/>
              <a:gd name="connsiteX15" fmla="*/ 833377 w 2025569"/>
              <a:gd name="connsiteY15" fmla="*/ 868132 h 1400568"/>
              <a:gd name="connsiteX16" fmla="*/ 844952 w 2025569"/>
              <a:gd name="connsiteY16" fmla="*/ 833408 h 1400568"/>
              <a:gd name="connsiteX17" fmla="*/ 960698 w 2025569"/>
              <a:gd name="connsiteY17" fmla="*/ 821833 h 1400568"/>
              <a:gd name="connsiteX18" fmla="*/ 995422 w 2025569"/>
              <a:gd name="connsiteY18" fmla="*/ 833408 h 1400568"/>
              <a:gd name="connsiteX19" fmla="*/ 1111169 w 2025569"/>
              <a:gd name="connsiteY19" fmla="*/ 810259 h 1400568"/>
              <a:gd name="connsiteX20" fmla="*/ 1169043 w 2025569"/>
              <a:gd name="connsiteY20" fmla="*/ 763960 h 1400568"/>
              <a:gd name="connsiteX21" fmla="*/ 1180617 w 2025569"/>
              <a:gd name="connsiteY21" fmla="*/ 729236 h 1400568"/>
              <a:gd name="connsiteX22" fmla="*/ 1215341 w 2025569"/>
              <a:gd name="connsiteY22" fmla="*/ 578765 h 1400568"/>
              <a:gd name="connsiteX23" fmla="*/ 1226916 w 2025569"/>
              <a:gd name="connsiteY23" fmla="*/ 544041 h 1400568"/>
              <a:gd name="connsiteX24" fmla="*/ 1250065 w 2025569"/>
              <a:gd name="connsiteY24" fmla="*/ 509317 h 1400568"/>
              <a:gd name="connsiteX25" fmla="*/ 1261640 w 2025569"/>
              <a:gd name="connsiteY25" fmla="*/ 474593 h 1400568"/>
              <a:gd name="connsiteX26" fmla="*/ 1319514 w 2025569"/>
              <a:gd name="connsiteY26" fmla="*/ 416719 h 1400568"/>
              <a:gd name="connsiteX27" fmla="*/ 1354238 w 2025569"/>
              <a:gd name="connsiteY27" fmla="*/ 312547 h 1400568"/>
              <a:gd name="connsiteX28" fmla="*/ 1365812 w 2025569"/>
              <a:gd name="connsiteY28" fmla="*/ 277823 h 1400568"/>
              <a:gd name="connsiteX29" fmla="*/ 1388962 w 2025569"/>
              <a:gd name="connsiteY29" fmla="*/ 254674 h 1400568"/>
              <a:gd name="connsiteX30" fmla="*/ 1412111 w 2025569"/>
              <a:gd name="connsiteY30" fmla="*/ 173651 h 1400568"/>
              <a:gd name="connsiteX31" fmla="*/ 1481559 w 2025569"/>
              <a:gd name="connsiteY31" fmla="*/ 92628 h 1400568"/>
              <a:gd name="connsiteX32" fmla="*/ 1805650 w 2025569"/>
              <a:gd name="connsiteY32" fmla="*/ 57904 h 1400568"/>
              <a:gd name="connsiteX33" fmla="*/ 1944546 w 2025569"/>
              <a:gd name="connsiteY33" fmla="*/ 23180 h 1400568"/>
              <a:gd name="connsiteX34" fmla="*/ 1979271 w 2025569"/>
              <a:gd name="connsiteY34" fmla="*/ 11605 h 1400568"/>
              <a:gd name="connsiteX35" fmla="*/ 2025569 w 2025569"/>
              <a:gd name="connsiteY35" fmla="*/ 31 h 1400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2025569" h="1400568">
                <a:moveTo>
                  <a:pt x="0" y="1400568"/>
                </a:moveTo>
                <a:cubicBezTo>
                  <a:pt x="30866" y="1396710"/>
                  <a:pt x="62182" y="1395511"/>
                  <a:pt x="92597" y="1388993"/>
                </a:cubicBezTo>
                <a:cubicBezTo>
                  <a:pt x="116457" y="1383880"/>
                  <a:pt x="162045" y="1365843"/>
                  <a:pt x="162045" y="1365843"/>
                </a:cubicBezTo>
                <a:cubicBezTo>
                  <a:pt x="169762" y="1358127"/>
                  <a:pt x="176673" y="1349511"/>
                  <a:pt x="185195" y="1342694"/>
                </a:cubicBezTo>
                <a:cubicBezTo>
                  <a:pt x="218619" y="1315955"/>
                  <a:pt x="218225" y="1327449"/>
                  <a:pt x="243068" y="1296395"/>
                </a:cubicBezTo>
                <a:cubicBezTo>
                  <a:pt x="253974" y="1282762"/>
                  <a:pt x="270733" y="1247839"/>
                  <a:pt x="289367" y="1238522"/>
                </a:cubicBezTo>
                <a:cubicBezTo>
                  <a:pt x="326041" y="1220185"/>
                  <a:pt x="366347" y="1214875"/>
                  <a:pt x="405114" y="1203798"/>
                </a:cubicBezTo>
                <a:cubicBezTo>
                  <a:pt x="416845" y="1200446"/>
                  <a:pt x="429173" y="1198148"/>
                  <a:pt x="439838" y="1192223"/>
                </a:cubicBezTo>
                <a:cubicBezTo>
                  <a:pt x="464159" y="1178711"/>
                  <a:pt x="486137" y="1161357"/>
                  <a:pt x="509286" y="1145924"/>
                </a:cubicBezTo>
                <a:lnTo>
                  <a:pt x="544010" y="1122775"/>
                </a:lnTo>
                <a:cubicBezTo>
                  <a:pt x="555585" y="1115059"/>
                  <a:pt x="568898" y="1109463"/>
                  <a:pt x="578734" y="1099626"/>
                </a:cubicBezTo>
                <a:cubicBezTo>
                  <a:pt x="611719" y="1066639"/>
                  <a:pt x="592803" y="1082529"/>
                  <a:pt x="636607" y="1053327"/>
                </a:cubicBezTo>
                <a:lnTo>
                  <a:pt x="682906" y="983879"/>
                </a:lnTo>
                <a:cubicBezTo>
                  <a:pt x="690622" y="972304"/>
                  <a:pt x="696218" y="958992"/>
                  <a:pt x="706055" y="949155"/>
                </a:cubicBezTo>
                <a:cubicBezTo>
                  <a:pt x="733478" y="921732"/>
                  <a:pt x="759387" y="892796"/>
                  <a:pt x="798653" y="879707"/>
                </a:cubicBezTo>
                <a:lnTo>
                  <a:pt x="833377" y="868132"/>
                </a:lnTo>
                <a:cubicBezTo>
                  <a:pt x="837235" y="856557"/>
                  <a:pt x="837330" y="842935"/>
                  <a:pt x="844952" y="833408"/>
                </a:cubicBezTo>
                <a:cubicBezTo>
                  <a:pt x="878326" y="791691"/>
                  <a:pt x="913069" y="815029"/>
                  <a:pt x="960698" y="821833"/>
                </a:cubicBezTo>
                <a:cubicBezTo>
                  <a:pt x="972273" y="825691"/>
                  <a:pt x="983221" y="833408"/>
                  <a:pt x="995422" y="833408"/>
                </a:cubicBezTo>
                <a:cubicBezTo>
                  <a:pt x="1048619" y="833408"/>
                  <a:pt x="1068408" y="824512"/>
                  <a:pt x="1111169" y="810259"/>
                </a:cubicBezTo>
                <a:cubicBezTo>
                  <a:pt x="1126937" y="799747"/>
                  <a:pt x="1158049" y="782283"/>
                  <a:pt x="1169043" y="763960"/>
                </a:cubicBezTo>
                <a:cubicBezTo>
                  <a:pt x="1175320" y="753498"/>
                  <a:pt x="1176759" y="740811"/>
                  <a:pt x="1180617" y="729236"/>
                </a:cubicBezTo>
                <a:cubicBezTo>
                  <a:pt x="1195643" y="624059"/>
                  <a:pt x="1183565" y="674092"/>
                  <a:pt x="1215341" y="578765"/>
                </a:cubicBezTo>
                <a:cubicBezTo>
                  <a:pt x="1219199" y="567190"/>
                  <a:pt x="1220148" y="554193"/>
                  <a:pt x="1226916" y="544041"/>
                </a:cubicBezTo>
                <a:cubicBezTo>
                  <a:pt x="1234632" y="532466"/>
                  <a:pt x="1243844" y="521759"/>
                  <a:pt x="1250065" y="509317"/>
                </a:cubicBezTo>
                <a:cubicBezTo>
                  <a:pt x="1255521" y="498404"/>
                  <a:pt x="1254319" y="484354"/>
                  <a:pt x="1261640" y="474593"/>
                </a:cubicBezTo>
                <a:cubicBezTo>
                  <a:pt x="1278009" y="452767"/>
                  <a:pt x="1319514" y="416719"/>
                  <a:pt x="1319514" y="416719"/>
                </a:cubicBezTo>
                <a:lnTo>
                  <a:pt x="1354238" y="312547"/>
                </a:lnTo>
                <a:cubicBezTo>
                  <a:pt x="1358096" y="300972"/>
                  <a:pt x="1357185" y="286450"/>
                  <a:pt x="1365812" y="277823"/>
                </a:cubicBezTo>
                <a:lnTo>
                  <a:pt x="1388962" y="254674"/>
                </a:lnTo>
                <a:cubicBezTo>
                  <a:pt x="1392672" y="239834"/>
                  <a:pt x="1403806" y="190260"/>
                  <a:pt x="1412111" y="173651"/>
                </a:cubicBezTo>
                <a:cubicBezTo>
                  <a:pt x="1422479" y="152916"/>
                  <a:pt x="1464471" y="98324"/>
                  <a:pt x="1481559" y="92628"/>
                </a:cubicBezTo>
                <a:cubicBezTo>
                  <a:pt x="1631615" y="42610"/>
                  <a:pt x="1526631" y="70587"/>
                  <a:pt x="1805650" y="57904"/>
                </a:cubicBezTo>
                <a:cubicBezTo>
                  <a:pt x="1899169" y="42318"/>
                  <a:pt x="1852832" y="53752"/>
                  <a:pt x="1944546" y="23180"/>
                </a:cubicBezTo>
                <a:lnTo>
                  <a:pt x="1979271" y="11605"/>
                </a:lnTo>
                <a:cubicBezTo>
                  <a:pt x="2017654" y="-1189"/>
                  <a:pt x="2001795" y="31"/>
                  <a:pt x="2025569" y="31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27DE106-BA68-23CB-811F-5522E192E753}"/>
              </a:ext>
            </a:extLst>
          </p:cNvPr>
          <p:cNvCxnSpPr>
            <a:cxnSpLocks/>
          </p:cNvCxnSpPr>
          <p:nvPr/>
        </p:nvCxnSpPr>
        <p:spPr>
          <a:xfrm flipV="1">
            <a:off x="6724891" y="4007175"/>
            <a:ext cx="1076808" cy="8289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4447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5243C-A6B3-5524-F473-8DFED7408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Required capabilities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E908E6-EF98-5029-A0E6-B430039925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1100" y="1435261"/>
            <a:ext cx="6085144" cy="5057614"/>
          </a:xfrm>
        </p:spPr>
        <p:txBody>
          <a:bodyPr>
            <a:normAutofit/>
          </a:bodyPr>
          <a:lstStyle/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FVCOM data 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sym typeface="Wingdings" pitchFamily="2" charset="2"/>
              </a:rPr>
              <a:t> </a:t>
            </a:r>
            <a:r>
              <a:rPr lang="en-US" sz="24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sym typeface="Wingdings" pitchFamily="2" charset="2"/>
              </a:rPr>
              <a:t>boundary condition</a:t>
            </a:r>
            <a:endParaRPr lang="en-US" sz="24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FVCOM data </a:t>
            </a:r>
            <a:r>
              <a:rPr lang="en-US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sym typeface="Wingdings" pitchFamily="2" charset="2"/>
              </a:rPr>
              <a:t> boundary plane</a:t>
            </a:r>
          </a:p>
          <a:p>
            <a:pPr marL="742950" marR="0" lvl="1" indent="-285750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sym typeface="Wingdings" pitchFamily="2" charset="2"/>
              </a:rPr>
              <a:t>Boundary plane refactor, phase-aware and terrain-aware</a:t>
            </a:r>
          </a:p>
          <a:p>
            <a:pPr marL="742950" marR="0" lvl="1" indent="-285750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sym typeface="Wingdings" pitchFamily="2" charset="2"/>
              </a:rPr>
              <a:t>FVCOM data  initial condition</a:t>
            </a:r>
            <a:endParaRPr lang="en-US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endParaRPr lang="en-US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Underwater source term for turbulent validation</a:t>
            </a:r>
          </a:p>
          <a:p>
            <a:pPr marL="0" marR="0" lvl="0" indent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2400" dirty="0" err="1">
                <a:solidFill>
                  <a:srgbClr val="0070C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Kynema</a:t>
            </a:r>
            <a:r>
              <a:rPr lang="en-US" sz="2400" dirty="0">
                <a:solidFill>
                  <a:srgbClr val="0070C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added mass aero</a:t>
            </a:r>
          </a:p>
          <a:p>
            <a:pPr marL="342900" indent="-342900">
              <a:spcBef>
                <a:spcPts val="0"/>
              </a:spcBef>
              <a:buFont typeface="Symbol" pitchFamily="2" charset="2"/>
              <a:buChar char=""/>
              <a:tabLst>
                <a:tab pos="457200" algn="l"/>
              </a:tabLst>
            </a:pPr>
            <a:endParaRPr lang="en-US" sz="2400" dirty="0">
              <a:solidFill>
                <a:srgbClr val="0070C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0"/>
              </a:spcBef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2400" dirty="0">
                <a:solidFill>
                  <a:srgbClr val="0070C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Setup of non-turbine bodies through AMR-Wind</a:t>
            </a:r>
            <a:endParaRPr lang="en-US" sz="24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  <a:tabLst>
                <a:tab pos="457200" algn="l"/>
              </a:tabLst>
            </a:pPr>
            <a:endParaRPr lang="en-US" sz="24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40A1674-44BE-FCE2-70E6-26FE13406725}"/>
              </a:ext>
            </a:extLst>
          </p:cNvPr>
          <p:cNvCxnSpPr/>
          <p:nvPr/>
        </p:nvCxnSpPr>
        <p:spPr>
          <a:xfrm>
            <a:off x="6400800" y="3429000"/>
            <a:ext cx="3426106" cy="10388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A2D0997-AFE1-C670-EBCE-22CD6F414B41}"/>
              </a:ext>
            </a:extLst>
          </p:cNvPr>
          <p:cNvCxnSpPr/>
          <p:nvPr/>
        </p:nvCxnSpPr>
        <p:spPr>
          <a:xfrm>
            <a:off x="8425646" y="1825625"/>
            <a:ext cx="3426106" cy="10388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A769922-B6A6-A0D1-00C6-02A982904E69}"/>
              </a:ext>
            </a:extLst>
          </p:cNvPr>
          <p:cNvCxnSpPr>
            <a:cxnSpLocks/>
          </p:cNvCxnSpPr>
          <p:nvPr/>
        </p:nvCxnSpPr>
        <p:spPr>
          <a:xfrm flipV="1">
            <a:off x="6400800" y="1825625"/>
            <a:ext cx="2024846" cy="160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E0B41AA-2687-9D79-F7A8-50C181216236}"/>
              </a:ext>
            </a:extLst>
          </p:cNvPr>
          <p:cNvCxnSpPr>
            <a:cxnSpLocks/>
          </p:cNvCxnSpPr>
          <p:nvPr/>
        </p:nvCxnSpPr>
        <p:spPr>
          <a:xfrm flipV="1">
            <a:off x="9826906" y="2864453"/>
            <a:ext cx="2024846" cy="160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39A5158-98E2-9C63-9B74-A5EBD4773D15}"/>
              </a:ext>
            </a:extLst>
          </p:cNvPr>
          <p:cNvCxnSpPr/>
          <p:nvPr/>
        </p:nvCxnSpPr>
        <p:spPr>
          <a:xfrm>
            <a:off x="9826906" y="4467828"/>
            <a:ext cx="0" cy="6829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0CEDBD8-61BF-86EC-C7BE-23EFF4F8499D}"/>
              </a:ext>
            </a:extLst>
          </p:cNvPr>
          <p:cNvCxnSpPr/>
          <p:nvPr/>
        </p:nvCxnSpPr>
        <p:spPr>
          <a:xfrm>
            <a:off x="6400799" y="3429000"/>
            <a:ext cx="0" cy="6829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0BBE867-5A18-B98B-458C-A5B461127E6B}"/>
              </a:ext>
            </a:extLst>
          </p:cNvPr>
          <p:cNvCxnSpPr/>
          <p:nvPr/>
        </p:nvCxnSpPr>
        <p:spPr>
          <a:xfrm>
            <a:off x="8425646" y="1825625"/>
            <a:ext cx="0" cy="682906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206FD61-656A-FB36-7546-13AAD02F7688}"/>
              </a:ext>
            </a:extLst>
          </p:cNvPr>
          <p:cNvCxnSpPr/>
          <p:nvPr/>
        </p:nvCxnSpPr>
        <p:spPr>
          <a:xfrm>
            <a:off x="11851752" y="2864453"/>
            <a:ext cx="0" cy="682906"/>
          </a:xfrm>
          <a:prstGeom prst="line">
            <a:avLst/>
          </a:prstGeom>
          <a:ln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B99B26C-BDDB-A063-2B20-B890C36DF997}"/>
              </a:ext>
            </a:extLst>
          </p:cNvPr>
          <p:cNvCxnSpPr/>
          <p:nvPr/>
        </p:nvCxnSpPr>
        <p:spPr>
          <a:xfrm>
            <a:off x="6413098" y="4099307"/>
            <a:ext cx="3426106" cy="10388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B9D3817-E570-341E-335D-BAC3CCC3157F}"/>
              </a:ext>
            </a:extLst>
          </p:cNvPr>
          <p:cNvCxnSpPr/>
          <p:nvPr/>
        </p:nvCxnSpPr>
        <p:spPr>
          <a:xfrm>
            <a:off x="8437944" y="2495932"/>
            <a:ext cx="3426106" cy="1038828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DFCF660-DFB3-1586-C602-67955176070B}"/>
              </a:ext>
            </a:extLst>
          </p:cNvPr>
          <p:cNvCxnSpPr>
            <a:cxnSpLocks/>
          </p:cNvCxnSpPr>
          <p:nvPr/>
        </p:nvCxnSpPr>
        <p:spPr>
          <a:xfrm flipV="1">
            <a:off x="6413098" y="2495932"/>
            <a:ext cx="2024846" cy="1603375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346AD4E-A539-4EF0-DB8E-CB2FD0FD6C97}"/>
              </a:ext>
            </a:extLst>
          </p:cNvPr>
          <p:cNvCxnSpPr>
            <a:cxnSpLocks/>
          </p:cNvCxnSpPr>
          <p:nvPr/>
        </p:nvCxnSpPr>
        <p:spPr>
          <a:xfrm flipV="1">
            <a:off x="9839204" y="3534760"/>
            <a:ext cx="2024846" cy="160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Freeform 20">
            <a:extLst>
              <a:ext uri="{FF2B5EF4-FFF2-40B4-BE49-F238E27FC236}">
                <a16:creationId xmlns:a16="http://schemas.microsoft.com/office/drawing/2014/main" id="{A44465E7-09B5-9367-CBA7-A2106E15078A}"/>
              </a:ext>
            </a:extLst>
          </p:cNvPr>
          <p:cNvSpPr/>
          <p:nvPr/>
        </p:nvSpPr>
        <p:spPr>
          <a:xfrm>
            <a:off x="6377651" y="3657600"/>
            <a:ext cx="3437681" cy="1043559"/>
          </a:xfrm>
          <a:custGeom>
            <a:avLst/>
            <a:gdLst>
              <a:gd name="connsiteX0" fmla="*/ 0 w 3437681"/>
              <a:gd name="connsiteY0" fmla="*/ 0 h 1043559"/>
              <a:gd name="connsiteX1" fmla="*/ 81022 w 3437681"/>
              <a:gd name="connsiteY1" fmla="*/ 46299 h 1043559"/>
              <a:gd name="connsiteX2" fmla="*/ 173620 w 3437681"/>
              <a:gd name="connsiteY2" fmla="*/ 127322 h 1043559"/>
              <a:gd name="connsiteX3" fmla="*/ 196769 w 3437681"/>
              <a:gd name="connsiteY3" fmla="*/ 162046 h 1043559"/>
              <a:gd name="connsiteX4" fmla="*/ 219919 w 3437681"/>
              <a:gd name="connsiteY4" fmla="*/ 277792 h 1043559"/>
              <a:gd name="connsiteX5" fmla="*/ 289367 w 3437681"/>
              <a:gd name="connsiteY5" fmla="*/ 324091 h 1043559"/>
              <a:gd name="connsiteX6" fmla="*/ 347240 w 3437681"/>
              <a:gd name="connsiteY6" fmla="*/ 335666 h 1043559"/>
              <a:gd name="connsiteX7" fmla="*/ 590308 w 3437681"/>
              <a:gd name="connsiteY7" fmla="*/ 324091 h 1043559"/>
              <a:gd name="connsiteX8" fmla="*/ 625033 w 3437681"/>
              <a:gd name="connsiteY8" fmla="*/ 312516 h 1043559"/>
              <a:gd name="connsiteX9" fmla="*/ 775503 w 3437681"/>
              <a:gd name="connsiteY9" fmla="*/ 324091 h 1043559"/>
              <a:gd name="connsiteX10" fmla="*/ 810227 w 3437681"/>
              <a:gd name="connsiteY10" fmla="*/ 347241 h 1043559"/>
              <a:gd name="connsiteX11" fmla="*/ 844952 w 3437681"/>
              <a:gd name="connsiteY11" fmla="*/ 428263 h 1043559"/>
              <a:gd name="connsiteX12" fmla="*/ 868101 w 3437681"/>
              <a:gd name="connsiteY12" fmla="*/ 474562 h 1043559"/>
              <a:gd name="connsiteX13" fmla="*/ 879676 w 3437681"/>
              <a:gd name="connsiteY13" fmla="*/ 509286 h 1043559"/>
              <a:gd name="connsiteX14" fmla="*/ 949124 w 3437681"/>
              <a:gd name="connsiteY14" fmla="*/ 578734 h 1043559"/>
              <a:gd name="connsiteX15" fmla="*/ 1412111 w 3437681"/>
              <a:gd name="connsiteY15" fmla="*/ 555585 h 1043559"/>
              <a:gd name="connsiteX16" fmla="*/ 1527858 w 3437681"/>
              <a:gd name="connsiteY16" fmla="*/ 532435 h 1043559"/>
              <a:gd name="connsiteX17" fmla="*/ 1597306 w 3437681"/>
              <a:gd name="connsiteY17" fmla="*/ 509286 h 1043559"/>
              <a:gd name="connsiteX18" fmla="*/ 1632030 w 3437681"/>
              <a:gd name="connsiteY18" fmla="*/ 497711 h 1043559"/>
              <a:gd name="connsiteX19" fmla="*/ 1666754 w 3437681"/>
              <a:gd name="connsiteY19" fmla="*/ 486137 h 1043559"/>
              <a:gd name="connsiteX20" fmla="*/ 1701478 w 3437681"/>
              <a:gd name="connsiteY20" fmla="*/ 497711 h 1043559"/>
              <a:gd name="connsiteX21" fmla="*/ 1747777 w 3437681"/>
              <a:gd name="connsiteY21" fmla="*/ 555585 h 1043559"/>
              <a:gd name="connsiteX22" fmla="*/ 1782501 w 3437681"/>
              <a:gd name="connsiteY22" fmla="*/ 567159 h 1043559"/>
              <a:gd name="connsiteX23" fmla="*/ 1840374 w 3437681"/>
              <a:gd name="connsiteY23" fmla="*/ 613458 h 1043559"/>
              <a:gd name="connsiteX24" fmla="*/ 1898248 w 3437681"/>
              <a:gd name="connsiteY24" fmla="*/ 659757 h 1043559"/>
              <a:gd name="connsiteX25" fmla="*/ 1967696 w 3437681"/>
              <a:gd name="connsiteY25" fmla="*/ 682906 h 1043559"/>
              <a:gd name="connsiteX26" fmla="*/ 2002420 w 3437681"/>
              <a:gd name="connsiteY26" fmla="*/ 798653 h 1043559"/>
              <a:gd name="connsiteX27" fmla="*/ 2013995 w 3437681"/>
              <a:gd name="connsiteY27" fmla="*/ 844952 h 1043559"/>
              <a:gd name="connsiteX28" fmla="*/ 2083443 w 3437681"/>
              <a:gd name="connsiteY28" fmla="*/ 879676 h 1043559"/>
              <a:gd name="connsiteX29" fmla="*/ 2338086 w 3437681"/>
              <a:gd name="connsiteY29" fmla="*/ 891251 h 1043559"/>
              <a:gd name="connsiteX30" fmla="*/ 2349660 w 3437681"/>
              <a:gd name="connsiteY30" fmla="*/ 925975 h 1043559"/>
              <a:gd name="connsiteX31" fmla="*/ 2592729 w 3437681"/>
              <a:gd name="connsiteY31" fmla="*/ 937549 h 1043559"/>
              <a:gd name="connsiteX32" fmla="*/ 2708476 w 3437681"/>
              <a:gd name="connsiteY32" fmla="*/ 949124 h 1043559"/>
              <a:gd name="connsiteX33" fmla="*/ 2777924 w 3437681"/>
              <a:gd name="connsiteY33" fmla="*/ 937549 h 1043559"/>
              <a:gd name="connsiteX34" fmla="*/ 2916820 w 3437681"/>
              <a:gd name="connsiteY34" fmla="*/ 960699 h 1043559"/>
              <a:gd name="connsiteX35" fmla="*/ 3044141 w 3437681"/>
              <a:gd name="connsiteY35" fmla="*/ 983848 h 1043559"/>
              <a:gd name="connsiteX36" fmla="*/ 3067291 w 3437681"/>
              <a:gd name="connsiteY36" fmla="*/ 1006997 h 1043559"/>
              <a:gd name="connsiteX37" fmla="*/ 3090440 w 3437681"/>
              <a:gd name="connsiteY37" fmla="*/ 1041722 h 1043559"/>
              <a:gd name="connsiteX38" fmla="*/ 3368233 w 3437681"/>
              <a:gd name="connsiteY38" fmla="*/ 1030147 h 1043559"/>
              <a:gd name="connsiteX39" fmla="*/ 3437681 w 3437681"/>
              <a:gd name="connsiteY39" fmla="*/ 1030147 h 1043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3437681" h="1043559">
                <a:moveTo>
                  <a:pt x="0" y="0"/>
                </a:moveTo>
                <a:cubicBezTo>
                  <a:pt x="27007" y="15433"/>
                  <a:pt x="54779" y="29599"/>
                  <a:pt x="81022" y="46299"/>
                </a:cubicBezTo>
                <a:cubicBezTo>
                  <a:pt x="105720" y="62016"/>
                  <a:pt x="157873" y="103702"/>
                  <a:pt x="173620" y="127322"/>
                </a:cubicBezTo>
                <a:lnTo>
                  <a:pt x="196769" y="162046"/>
                </a:lnTo>
                <a:cubicBezTo>
                  <a:pt x="198223" y="170767"/>
                  <a:pt x="211285" y="260524"/>
                  <a:pt x="219919" y="277792"/>
                </a:cubicBezTo>
                <a:cubicBezTo>
                  <a:pt x="230514" y="298983"/>
                  <a:pt x="272447" y="318451"/>
                  <a:pt x="289367" y="324091"/>
                </a:cubicBezTo>
                <a:cubicBezTo>
                  <a:pt x="308031" y="330312"/>
                  <a:pt x="327949" y="331808"/>
                  <a:pt x="347240" y="335666"/>
                </a:cubicBezTo>
                <a:cubicBezTo>
                  <a:pt x="428263" y="331808"/>
                  <a:pt x="509474" y="330827"/>
                  <a:pt x="590308" y="324091"/>
                </a:cubicBezTo>
                <a:cubicBezTo>
                  <a:pt x="602467" y="323078"/>
                  <a:pt x="612832" y="312516"/>
                  <a:pt x="625033" y="312516"/>
                </a:cubicBezTo>
                <a:cubicBezTo>
                  <a:pt x="675338" y="312516"/>
                  <a:pt x="725346" y="320233"/>
                  <a:pt x="775503" y="324091"/>
                </a:cubicBezTo>
                <a:cubicBezTo>
                  <a:pt x="787078" y="331808"/>
                  <a:pt x="800390" y="337404"/>
                  <a:pt x="810227" y="347241"/>
                </a:cubicBezTo>
                <a:cubicBezTo>
                  <a:pt x="843067" y="380081"/>
                  <a:pt x="829013" y="385759"/>
                  <a:pt x="844952" y="428263"/>
                </a:cubicBezTo>
                <a:cubicBezTo>
                  <a:pt x="851010" y="444419"/>
                  <a:pt x="861304" y="458703"/>
                  <a:pt x="868101" y="474562"/>
                </a:cubicBezTo>
                <a:cubicBezTo>
                  <a:pt x="872907" y="485776"/>
                  <a:pt x="874220" y="498373"/>
                  <a:pt x="879676" y="509286"/>
                </a:cubicBezTo>
                <a:cubicBezTo>
                  <a:pt x="899986" y="549907"/>
                  <a:pt x="910472" y="549745"/>
                  <a:pt x="949124" y="578734"/>
                </a:cubicBezTo>
                <a:cubicBezTo>
                  <a:pt x="1125635" y="572647"/>
                  <a:pt x="1250088" y="574646"/>
                  <a:pt x="1412111" y="555585"/>
                </a:cubicBezTo>
                <a:cubicBezTo>
                  <a:pt x="1446426" y="551548"/>
                  <a:pt x="1493242" y="542820"/>
                  <a:pt x="1527858" y="532435"/>
                </a:cubicBezTo>
                <a:cubicBezTo>
                  <a:pt x="1551230" y="525423"/>
                  <a:pt x="1574157" y="517002"/>
                  <a:pt x="1597306" y="509286"/>
                </a:cubicBezTo>
                <a:lnTo>
                  <a:pt x="1632030" y="497711"/>
                </a:lnTo>
                <a:lnTo>
                  <a:pt x="1666754" y="486137"/>
                </a:lnTo>
                <a:cubicBezTo>
                  <a:pt x="1678329" y="489995"/>
                  <a:pt x="1691016" y="491434"/>
                  <a:pt x="1701478" y="497711"/>
                </a:cubicBezTo>
                <a:cubicBezTo>
                  <a:pt x="1748667" y="526024"/>
                  <a:pt x="1700468" y="517739"/>
                  <a:pt x="1747777" y="555585"/>
                </a:cubicBezTo>
                <a:cubicBezTo>
                  <a:pt x="1757304" y="563207"/>
                  <a:pt x="1770926" y="563301"/>
                  <a:pt x="1782501" y="567159"/>
                </a:cubicBezTo>
                <a:cubicBezTo>
                  <a:pt x="1838391" y="623051"/>
                  <a:pt x="1767373" y="555057"/>
                  <a:pt x="1840374" y="613458"/>
                </a:cubicBezTo>
                <a:cubicBezTo>
                  <a:pt x="1870439" y="637510"/>
                  <a:pt x="1858168" y="641944"/>
                  <a:pt x="1898248" y="659757"/>
                </a:cubicBezTo>
                <a:cubicBezTo>
                  <a:pt x="1920546" y="669667"/>
                  <a:pt x="1967696" y="682906"/>
                  <a:pt x="1967696" y="682906"/>
                </a:cubicBezTo>
                <a:cubicBezTo>
                  <a:pt x="2014654" y="729866"/>
                  <a:pt x="1984320" y="690056"/>
                  <a:pt x="2002420" y="798653"/>
                </a:cubicBezTo>
                <a:cubicBezTo>
                  <a:pt x="2005035" y="814345"/>
                  <a:pt x="2005171" y="831716"/>
                  <a:pt x="2013995" y="844952"/>
                </a:cubicBezTo>
                <a:cubicBezTo>
                  <a:pt x="2022787" y="858140"/>
                  <a:pt x="2067170" y="878374"/>
                  <a:pt x="2083443" y="879676"/>
                </a:cubicBezTo>
                <a:cubicBezTo>
                  <a:pt x="2168141" y="886452"/>
                  <a:pt x="2253205" y="887393"/>
                  <a:pt x="2338086" y="891251"/>
                </a:cubicBezTo>
                <a:cubicBezTo>
                  <a:pt x="2341944" y="902826"/>
                  <a:pt x="2343383" y="915513"/>
                  <a:pt x="2349660" y="925975"/>
                </a:cubicBezTo>
                <a:cubicBezTo>
                  <a:pt x="2395612" y="1002562"/>
                  <a:pt x="2557701" y="939393"/>
                  <a:pt x="2592729" y="937549"/>
                </a:cubicBezTo>
                <a:cubicBezTo>
                  <a:pt x="2631311" y="941407"/>
                  <a:pt x="2669701" y="949124"/>
                  <a:pt x="2708476" y="949124"/>
                </a:cubicBezTo>
                <a:cubicBezTo>
                  <a:pt x="2731945" y="949124"/>
                  <a:pt x="2754491" y="936247"/>
                  <a:pt x="2777924" y="937549"/>
                </a:cubicBezTo>
                <a:cubicBezTo>
                  <a:pt x="2824789" y="940153"/>
                  <a:pt x="2870577" y="952657"/>
                  <a:pt x="2916820" y="960699"/>
                </a:cubicBezTo>
                <a:lnTo>
                  <a:pt x="3044141" y="983848"/>
                </a:lnTo>
                <a:cubicBezTo>
                  <a:pt x="3051858" y="991564"/>
                  <a:pt x="3060474" y="998476"/>
                  <a:pt x="3067291" y="1006997"/>
                </a:cubicBezTo>
                <a:cubicBezTo>
                  <a:pt x="3075981" y="1017860"/>
                  <a:pt x="3076570" y="1040655"/>
                  <a:pt x="3090440" y="1041722"/>
                </a:cubicBezTo>
                <a:cubicBezTo>
                  <a:pt x="3182845" y="1048830"/>
                  <a:pt x="3275606" y="1033235"/>
                  <a:pt x="3368233" y="1030147"/>
                </a:cubicBezTo>
                <a:cubicBezTo>
                  <a:pt x="3391369" y="1029376"/>
                  <a:pt x="3414532" y="1030147"/>
                  <a:pt x="3437681" y="1030147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3C635F6C-7BA0-3997-9B25-7D092E0F2A1E}"/>
              </a:ext>
            </a:extLst>
          </p:cNvPr>
          <p:cNvSpPr/>
          <p:nvPr/>
        </p:nvSpPr>
        <p:spPr>
          <a:xfrm>
            <a:off x="9815332" y="3298754"/>
            <a:ext cx="2025569" cy="1400568"/>
          </a:xfrm>
          <a:custGeom>
            <a:avLst/>
            <a:gdLst>
              <a:gd name="connsiteX0" fmla="*/ 0 w 2025569"/>
              <a:gd name="connsiteY0" fmla="*/ 1400568 h 1400568"/>
              <a:gd name="connsiteX1" fmla="*/ 92597 w 2025569"/>
              <a:gd name="connsiteY1" fmla="*/ 1388993 h 1400568"/>
              <a:gd name="connsiteX2" fmla="*/ 162045 w 2025569"/>
              <a:gd name="connsiteY2" fmla="*/ 1365843 h 1400568"/>
              <a:gd name="connsiteX3" fmla="*/ 185195 w 2025569"/>
              <a:gd name="connsiteY3" fmla="*/ 1342694 h 1400568"/>
              <a:gd name="connsiteX4" fmla="*/ 243068 w 2025569"/>
              <a:gd name="connsiteY4" fmla="*/ 1296395 h 1400568"/>
              <a:gd name="connsiteX5" fmla="*/ 289367 w 2025569"/>
              <a:gd name="connsiteY5" fmla="*/ 1238522 h 1400568"/>
              <a:gd name="connsiteX6" fmla="*/ 405114 w 2025569"/>
              <a:gd name="connsiteY6" fmla="*/ 1203798 h 1400568"/>
              <a:gd name="connsiteX7" fmla="*/ 439838 w 2025569"/>
              <a:gd name="connsiteY7" fmla="*/ 1192223 h 1400568"/>
              <a:gd name="connsiteX8" fmla="*/ 509286 w 2025569"/>
              <a:gd name="connsiteY8" fmla="*/ 1145924 h 1400568"/>
              <a:gd name="connsiteX9" fmla="*/ 544010 w 2025569"/>
              <a:gd name="connsiteY9" fmla="*/ 1122775 h 1400568"/>
              <a:gd name="connsiteX10" fmla="*/ 578734 w 2025569"/>
              <a:gd name="connsiteY10" fmla="*/ 1099626 h 1400568"/>
              <a:gd name="connsiteX11" fmla="*/ 636607 w 2025569"/>
              <a:gd name="connsiteY11" fmla="*/ 1053327 h 1400568"/>
              <a:gd name="connsiteX12" fmla="*/ 682906 w 2025569"/>
              <a:gd name="connsiteY12" fmla="*/ 983879 h 1400568"/>
              <a:gd name="connsiteX13" fmla="*/ 706055 w 2025569"/>
              <a:gd name="connsiteY13" fmla="*/ 949155 h 1400568"/>
              <a:gd name="connsiteX14" fmla="*/ 798653 w 2025569"/>
              <a:gd name="connsiteY14" fmla="*/ 879707 h 1400568"/>
              <a:gd name="connsiteX15" fmla="*/ 833377 w 2025569"/>
              <a:gd name="connsiteY15" fmla="*/ 868132 h 1400568"/>
              <a:gd name="connsiteX16" fmla="*/ 844952 w 2025569"/>
              <a:gd name="connsiteY16" fmla="*/ 833408 h 1400568"/>
              <a:gd name="connsiteX17" fmla="*/ 960698 w 2025569"/>
              <a:gd name="connsiteY17" fmla="*/ 821833 h 1400568"/>
              <a:gd name="connsiteX18" fmla="*/ 995422 w 2025569"/>
              <a:gd name="connsiteY18" fmla="*/ 833408 h 1400568"/>
              <a:gd name="connsiteX19" fmla="*/ 1111169 w 2025569"/>
              <a:gd name="connsiteY19" fmla="*/ 810259 h 1400568"/>
              <a:gd name="connsiteX20" fmla="*/ 1169043 w 2025569"/>
              <a:gd name="connsiteY20" fmla="*/ 763960 h 1400568"/>
              <a:gd name="connsiteX21" fmla="*/ 1180617 w 2025569"/>
              <a:gd name="connsiteY21" fmla="*/ 729236 h 1400568"/>
              <a:gd name="connsiteX22" fmla="*/ 1215341 w 2025569"/>
              <a:gd name="connsiteY22" fmla="*/ 578765 h 1400568"/>
              <a:gd name="connsiteX23" fmla="*/ 1226916 w 2025569"/>
              <a:gd name="connsiteY23" fmla="*/ 544041 h 1400568"/>
              <a:gd name="connsiteX24" fmla="*/ 1250065 w 2025569"/>
              <a:gd name="connsiteY24" fmla="*/ 509317 h 1400568"/>
              <a:gd name="connsiteX25" fmla="*/ 1261640 w 2025569"/>
              <a:gd name="connsiteY25" fmla="*/ 474593 h 1400568"/>
              <a:gd name="connsiteX26" fmla="*/ 1319514 w 2025569"/>
              <a:gd name="connsiteY26" fmla="*/ 416719 h 1400568"/>
              <a:gd name="connsiteX27" fmla="*/ 1354238 w 2025569"/>
              <a:gd name="connsiteY27" fmla="*/ 312547 h 1400568"/>
              <a:gd name="connsiteX28" fmla="*/ 1365812 w 2025569"/>
              <a:gd name="connsiteY28" fmla="*/ 277823 h 1400568"/>
              <a:gd name="connsiteX29" fmla="*/ 1388962 w 2025569"/>
              <a:gd name="connsiteY29" fmla="*/ 254674 h 1400568"/>
              <a:gd name="connsiteX30" fmla="*/ 1412111 w 2025569"/>
              <a:gd name="connsiteY30" fmla="*/ 173651 h 1400568"/>
              <a:gd name="connsiteX31" fmla="*/ 1481559 w 2025569"/>
              <a:gd name="connsiteY31" fmla="*/ 92628 h 1400568"/>
              <a:gd name="connsiteX32" fmla="*/ 1805650 w 2025569"/>
              <a:gd name="connsiteY32" fmla="*/ 57904 h 1400568"/>
              <a:gd name="connsiteX33" fmla="*/ 1944546 w 2025569"/>
              <a:gd name="connsiteY33" fmla="*/ 23180 h 1400568"/>
              <a:gd name="connsiteX34" fmla="*/ 1979271 w 2025569"/>
              <a:gd name="connsiteY34" fmla="*/ 11605 h 1400568"/>
              <a:gd name="connsiteX35" fmla="*/ 2025569 w 2025569"/>
              <a:gd name="connsiteY35" fmla="*/ 31 h 1400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2025569" h="1400568">
                <a:moveTo>
                  <a:pt x="0" y="1400568"/>
                </a:moveTo>
                <a:cubicBezTo>
                  <a:pt x="30866" y="1396710"/>
                  <a:pt x="62182" y="1395511"/>
                  <a:pt x="92597" y="1388993"/>
                </a:cubicBezTo>
                <a:cubicBezTo>
                  <a:pt x="116457" y="1383880"/>
                  <a:pt x="162045" y="1365843"/>
                  <a:pt x="162045" y="1365843"/>
                </a:cubicBezTo>
                <a:cubicBezTo>
                  <a:pt x="169762" y="1358127"/>
                  <a:pt x="176673" y="1349511"/>
                  <a:pt x="185195" y="1342694"/>
                </a:cubicBezTo>
                <a:cubicBezTo>
                  <a:pt x="218619" y="1315955"/>
                  <a:pt x="218225" y="1327449"/>
                  <a:pt x="243068" y="1296395"/>
                </a:cubicBezTo>
                <a:cubicBezTo>
                  <a:pt x="253974" y="1282762"/>
                  <a:pt x="270733" y="1247839"/>
                  <a:pt x="289367" y="1238522"/>
                </a:cubicBezTo>
                <a:cubicBezTo>
                  <a:pt x="326041" y="1220185"/>
                  <a:pt x="366347" y="1214875"/>
                  <a:pt x="405114" y="1203798"/>
                </a:cubicBezTo>
                <a:cubicBezTo>
                  <a:pt x="416845" y="1200446"/>
                  <a:pt x="429173" y="1198148"/>
                  <a:pt x="439838" y="1192223"/>
                </a:cubicBezTo>
                <a:cubicBezTo>
                  <a:pt x="464159" y="1178711"/>
                  <a:pt x="486137" y="1161357"/>
                  <a:pt x="509286" y="1145924"/>
                </a:cubicBezTo>
                <a:lnTo>
                  <a:pt x="544010" y="1122775"/>
                </a:lnTo>
                <a:cubicBezTo>
                  <a:pt x="555585" y="1115059"/>
                  <a:pt x="568898" y="1109463"/>
                  <a:pt x="578734" y="1099626"/>
                </a:cubicBezTo>
                <a:cubicBezTo>
                  <a:pt x="611719" y="1066639"/>
                  <a:pt x="592803" y="1082529"/>
                  <a:pt x="636607" y="1053327"/>
                </a:cubicBezTo>
                <a:lnTo>
                  <a:pt x="682906" y="983879"/>
                </a:lnTo>
                <a:cubicBezTo>
                  <a:pt x="690622" y="972304"/>
                  <a:pt x="696218" y="958992"/>
                  <a:pt x="706055" y="949155"/>
                </a:cubicBezTo>
                <a:cubicBezTo>
                  <a:pt x="733478" y="921732"/>
                  <a:pt x="759387" y="892796"/>
                  <a:pt x="798653" y="879707"/>
                </a:cubicBezTo>
                <a:lnTo>
                  <a:pt x="833377" y="868132"/>
                </a:lnTo>
                <a:cubicBezTo>
                  <a:pt x="837235" y="856557"/>
                  <a:pt x="837330" y="842935"/>
                  <a:pt x="844952" y="833408"/>
                </a:cubicBezTo>
                <a:cubicBezTo>
                  <a:pt x="878326" y="791691"/>
                  <a:pt x="913069" y="815029"/>
                  <a:pt x="960698" y="821833"/>
                </a:cubicBezTo>
                <a:cubicBezTo>
                  <a:pt x="972273" y="825691"/>
                  <a:pt x="983221" y="833408"/>
                  <a:pt x="995422" y="833408"/>
                </a:cubicBezTo>
                <a:cubicBezTo>
                  <a:pt x="1048619" y="833408"/>
                  <a:pt x="1068408" y="824512"/>
                  <a:pt x="1111169" y="810259"/>
                </a:cubicBezTo>
                <a:cubicBezTo>
                  <a:pt x="1126937" y="799747"/>
                  <a:pt x="1158049" y="782283"/>
                  <a:pt x="1169043" y="763960"/>
                </a:cubicBezTo>
                <a:cubicBezTo>
                  <a:pt x="1175320" y="753498"/>
                  <a:pt x="1176759" y="740811"/>
                  <a:pt x="1180617" y="729236"/>
                </a:cubicBezTo>
                <a:cubicBezTo>
                  <a:pt x="1195643" y="624059"/>
                  <a:pt x="1183565" y="674092"/>
                  <a:pt x="1215341" y="578765"/>
                </a:cubicBezTo>
                <a:cubicBezTo>
                  <a:pt x="1219199" y="567190"/>
                  <a:pt x="1220148" y="554193"/>
                  <a:pt x="1226916" y="544041"/>
                </a:cubicBezTo>
                <a:cubicBezTo>
                  <a:pt x="1234632" y="532466"/>
                  <a:pt x="1243844" y="521759"/>
                  <a:pt x="1250065" y="509317"/>
                </a:cubicBezTo>
                <a:cubicBezTo>
                  <a:pt x="1255521" y="498404"/>
                  <a:pt x="1254319" y="484354"/>
                  <a:pt x="1261640" y="474593"/>
                </a:cubicBezTo>
                <a:cubicBezTo>
                  <a:pt x="1278009" y="452767"/>
                  <a:pt x="1319514" y="416719"/>
                  <a:pt x="1319514" y="416719"/>
                </a:cubicBezTo>
                <a:lnTo>
                  <a:pt x="1354238" y="312547"/>
                </a:lnTo>
                <a:cubicBezTo>
                  <a:pt x="1358096" y="300972"/>
                  <a:pt x="1357185" y="286450"/>
                  <a:pt x="1365812" y="277823"/>
                </a:cubicBezTo>
                <a:lnTo>
                  <a:pt x="1388962" y="254674"/>
                </a:lnTo>
                <a:cubicBezTo>
                  <a:pt x="1392672" y="239834"/>
                  <a:pt x="1403806" y="190260"/>
                  <a:pt x="1412111" y="173651"/>
                </a:cubicBezTo>
                <a:cubicBezTo>
                  <a:pt x="1422479" y="152916"/>
                  <a:pt x="1464471" y="98324"/>
                  <a:pt x="1481559" y="92628"/>
                </a:cubicBezTo>
                <a:cubicBezTo>
                  <a:pt x="1631615" y="42610"/>
                  <a:pt x="1526631" y="70587"/>
                  <a:pt x="1805650" y="57904"/>
                </a:cubicBezTo>
                <a:cubicBezTo>
                  <a:pt x="1899169" y="42318"/>
                  <a:pt x="1852832" y="53752"/>
                  <a:pt x="1944546" y="23180"/>
                </a:cubicBezTo>
                <a:lnTo>
                  <a:pt x="1979271" y="11605"/>
                </a:lnTo>
                <a:cubicBezTo>
                  <a:pt x="2017654" y="-1189"/>
                  <a:pt x="2001795" y="31"/>
                  <a:pt x="2025569" y="31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27DE106-BA68-23CB-811F-5522E192E753}"/>
              </a:ext>
            </a:extLst>
          </p:cNvPr>
          <p:cNvCxnSpPr>
            <a:cxnSpLocks/>
          </p:cNvCxnSpPr>
          <p:nvPr/>
        </p:nvCxnSpPr>
        <p:spPr>
          <a:xfrm flipV="1">
            <a:off x="6724891" y="4007175"/>
            <a:ext cx="1076808" cy="8289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94301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5243C-A6B3-5524-F473-8DFED7408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Practicing similar 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E908E6-EF98-5029-A0E6-B430039925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1100" y="1435261"/>
            <a:ext cx="6085144" cy="5057614"/>
          </a:xfrm>
        </p:spPr>
        <p:txBody>
          <a:bodyPr>
            <a:normAutofit/>
          </a:bodyPr>
          <a:lstStyle/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Need for optimizing domain size, number of cells, pressure solver options:</a:t>
            </a:r>
          </a:p>
          <a:p>
            <a:pPr marL="800100" lvl="1" indent="-342900">
              <a:spcBef>
                <a:spcPts val="0"/>
              </a:spcBef>
              <a:buFont typeface="Courier New" panose="02070309020205020404" pitchFamily="49" charset="0"/>
              <a:buChar char="o"/>
              <a:tabLst>
                <a:tab pos="457200" algn="l"/>
              </a:tabLst>
            </a:pPr>
            <a:endParaRPr lang="en-US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spcBef>
                <a:spcPts val="0"/>
              </a:spcBef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en-US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Pancake shape of domain</a:t>
            </a:r>
          </a:p>
          <a:p>
            <a:pPr marL="800100" lvl="1" indent="-342900">
              <a:spcBef>
                <a:spcPts val="0"/>
              </a:spcBef>
              <a:buFont typeface="Courier New" panose="02070309020205020404" pitchFamily="49" charset="0"/>
              <a:buChar char="o"/>
              <a:tabLst>
                <a:tab pos="457200" algn="l"/>
              </a:tabLst>
            </a:pPr>
            <a:endParaRPr lang="en-US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spcBef>
                <a:spcPts val="0"/>
              </a:spcBef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en-US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High aspect ratio cells</a:t>
            </a:r>
          </a:p>
          <a:p>
            <a:pPr marL="800100" lvl="1" indent="-342900">
              <a:spcBef>
                <a:spcPts val="0"/>
              </a:spcBef>
              <a:buFont typeface="Courier New" panose="02070309020205020404" pitchFamily="49" charset="0"/>
              <a:buChar char="o"/>
              <a:tabLst>
                <a:tab pos="457200" algn="l"/>
              </a:tabLst>
            </a:pPr>
            <a:endParaRPr lang="en-US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spcBef>
                <a:spcPts val="0"/>
              </a:spcBef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en-US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Resolution across liquid-gas interface may be nonuniform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40A1674-44BE-FCE2-70E6-26FE13406725}"/>
              </a:ext>
            </a:extLst>
          </p:cNvPr>
          <p:cNvCxnSpPr/>
          <p:nvPr/>
        </p:nvCxnSpPr>
        <p:spPr>
          <a:xfrm>
            <a:off x="6400800" y="3429000"/>
            <a:ext cx="3426106" cy="10388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A2D0997-AFE1-C670-EBCE-22CD6F414B41}"/>
              </a:ext>
            </a:extLst>
          </p:cNvPr>
          <p:cNvCxnSpPr/>
          <p:nvPr/>
        </p:nvCxnSpPr>
        <p:spPr>
          <a:xfrm>
            <a:off x="8425646" y="1825625"/>
            <a:ext cx="3426106" cy="10388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A769922-B6A6-A0D1-00C6-02A982904E69}"/>
              </a:ext>
            </a:extLst>
          </p:cNvPr>
          <p:cNvCxnSpPr>
            <a:cxnSpLocks/>
          </p:cNvCxnSpPr>
          <p:nvPr/>
        </p:nvCxnSpPr>
        <p:spPr>
          <a:xfrm flipV="1">
            <a:off x="6400800" y="1825625"/>
            <a:ext cx="2024846" cy="160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E0B41AA-2687-9D79-F7A8-50C181216236}"/>
              </a:ext>
            </a:extLst>
          </p:cNvPr>
          <p:cNvCxnSpPr>
            <a:cxnSpLocks/>
          </p:cNvCxnSpPr>
          <p:nvPr/>
        </p:nvCxnSpPr>
        <p:spPr>
          <a:xfrm flipV="1">
            <a:off x="9826906" y="2864453"/>
            <a:ext cx="2024846" cy="160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39A5158-98E2-9C63-9B74-A5EBD4773D15}"/>
              </a:ext>
            </a:extLst>
          </p:cNvPr>
          <p:cNvCxnSpPr/>
          <p:nvPr/>
        </p:nvCxnSpPr>
        <p:spPr>
          <a:xfrm>
            <a:off x="9826906" y="4467828"/>
            <a:ext cx="0" cy="6829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0CEDBD8-61BF-86EC-C7BE-23EFF4F8499D}"/>
              </a:ext>
            </a:extLst>
          </p:cNvPr>
          <p:cNvCxnSpPr/>
          <p:nvPr/>
        </p:nvCxnSpPr>
        <p:spPr>
          <a:xfrm>
            <a:off x="6400799" y="3429000"/>
            <a:ext cx="0" cy="6829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0BBE867-5A18-B98B-458C-A5B461127E6B}"/>
              </a:ext>
            </a:extLst>
          </p:cNvPr>
          <p:cNvCxnSpPr/>
          <p:nvPr/>
        </p:nvCxnSpPr>
        <p:spPr>
          <a:xfrm>
            <a:off x="8425646" y="1825625"/>
            <a:ext cx="0" cy="682906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206FD61-656A-FB36-7546-13AAD02F7688}"/>
              </a:ext>
            </a:extLst>
          </p:cNvPr>
          <p:cNvCxnSpPr/>
          <p:nvPr/>
        </p:nvCxnSpPr>
        <p:spPr>
          <a:xfrm>
            <a:off x="11851752" y="2864453"/>
            <a:ext cx="0" cy="682906"/>
          </a:xfrm>
          <a:prstGeom prst="line">
            <a:avLst/>
          </a:prstGeom>
          <a:ln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B99B26C-BDDB-A063-2B20-B890C36DF997}"/>
              </a:ext>
            </a:extLst>
          </p:cNvPr>
          <p:cNvCxnSpPr/>
          <p:nvPr/>
        </p:nvCxnSpPr>
        <p:spPr>
          <a:xfrm>
            <a:off x="6413098" y="4099307"/>
            <a:ext cx="3426106" cy="10388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B9D3817-E570-341E-335D-BAC3CCC3157F}"/>
              </a:ext>
            </a:extLst>
          </p:cNvPr>
          <p:cNvCxnSpPr/>
          <p:nvPr/>
        </p:nvCxnSpPr>
        <p:spPr>
          <a:xfrm>
            <a:off x="8437944" y="2495932"/>
            <a:ext cx="3426106" cy="1038828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DFCF660-DFB3-1586-C602-67955176070B}"/>
              </a:ext>
            </a:extLst>
          </p:cNvPr>
          <p:cNvCxnSpPr>
            <a:cxnSpLocks/>
          </p:cNvCxnSpPr>
          <p:nvPr/>
        </p:nvCxnSpPr>
        <p:spPr>
          <a:xfrm flipV="1">
            <a:off x="6413098" y="2495932"/>
            <a:ext cx="2024846" cy="1603375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346AD4E-A539-4EF0-DB8E-CB2FD0FD6C97}"/>
              </a:ext>
            </a:extLst>
          </p:cNvPr>
          <p:cNvCxnSpPr>
            <a:cxnSpLocks/>
          </p:cNvCxnSpPr>
          <p:nvPr/>
        </p:nvCxnSpPr>
        <p:spPr>
          <a:xfrm flipV="1">
            <a:off x="9839204" y="3534760"/>
            <a:ext cx="2024846" cy="160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Freeform 20">
            <a:extLst>
              <a:ext uri="{FF2B5EF4-FFF2-40B4-BE49-F238E27FC236}">
                <a16:creationId xmlns:a16="http://schemas.microsoft.com/office/drawing/2014/main" id="{A44465E7-09B5-9367-CBA7-A2106E15078A}"/>
              </a:ext>
            </a:extLst>
          </p:cNvPr>
          <p:cNvSpPr/>
          <p:nvPr/>
        </p:nvSpPr>
        <p:spPr>
          <a:xfrm>
            <a:off x="6377651" y="3657600"/>
            <a:ext cx="3437681" cy="1043559"/>
          </a:xfrm>
          <a:custGeom>
            <a:avLst/>
            <a:gdLst>
              <a:gd name="connsiteX0" fmla="*/ 0 w 3437681"/>
              <a:gd name="connsiteY0" fmla="*/ 0 h 1043559"/>
              <a:gd name="connsiteX1" fmla="*/ 81022 w 3437681"/>
              <a:gd name="connsiteY1" fmla="*/ 46299 h 1043559"/>
              <a:gd name="connsiteX2" fmla="*/ 173620 w 3437681"/>
              <a:gd name="connsiteY2" fmla="*/ 127322 h 1043559"/>
              <a:gd name="connsiteX3" fmla="*/ 196769 w 3437681"/>
              <a:gd name="connsiteY3" fmla="*/ 162046 h 1043559"/>
              <a:gd name="connsiteX4" fmla="*/ 219919 w 3437681"/>
              <a:gd name="connsiteY4" fmla="*/ 277792 h 1043559"/>
              <a:gd name="connsiteX5" fmla="*/ 289367 w 3437681"/>
              <a:gd name="connsiteY5" fmla="*/ 324091 h 1043559"/>
              <a:gd name="connsiteX6" fmla="*/ 347240 w 3437681"/>
              <a:gd name="connsiteY6" fmla="*/ 335666 h 1043559"/>
              <a:gd name="connsiteX7" fmla="*/ 590308 w 3437681"/>
              <a:gd name="connsiteY7" fmla="*/ 324091 h 1043559"/>
              <a:gd name="connsiteX8" fmla="*/ 625033 w 3437681"/>
              <a:gd name="connsiteY8" fmla="*/ 312516 h 1043559"/>
              <a:gd name="connsiteX9" fmla="*/ 775503 w 3437681"/>
              <a:gd name="connsiteY9" fmla="*/ 324091 h 1043559"/>
              <a:gd name="connsiteX10" fmla="*/ 810227 w 3437681"/>
              <a:gd name="connsiteY10" fmla="*/ 347241 h 1043559"/>
              <a:gd name="connsiteX11" fmla="*/ 844952 w 3437681"/>
              <a:gd name="connsiteY11" fmla="*/ 428263 h 1043559"/>
              <a:gd name="connsiteX12" fmla="*/ 868101 w 3437681"/>
              <a:gd name="connsiteY12" fmla="*/ 474562 h 1043559"/>
              <a:gd name="connsiteX13" fmla="*/ 879676 w 3437681"/>
              <a:gd name="connsiteY13" fmla="*/ 509286 h 1043559"/>
              <a:gd name="connsiteX14" fmla="*/ 949124 w 3437681"/>
              <a:gd name="connsiteY14" fmla="*/ 578734 h 1043559"/>
              <a:gd name="connsiteX15" fmla="*/ 1412111 w 3437681"/>
              <a:gd name="connsiteY15" fmla="*/ 555585 h 1043559"/>
              <a:gd name="connsiteX16" fmla="*/ 1527858 w 3437681"/>
              <a:gd name="connsiteY16" fmla="*/ 532435 h 1043559"/>
              <a:gd name="connsiteX17" fmla="*/ 1597306 w 3437681"/>
              <a:gd name="connsiteY17" fmla="*/ 509286 h 1043559"/>
              <a:gd name="connsiteX18" fmla="*/ 1632030 w 3437681"/>
              <a:gd name="connsiteY18" fmla="*/ 497711 h 1043559"/>
              <a:gd name="connsiteX19" fmla="*/ 1666754 w 3437681"/>
              <a:gd name="connsiteY19" fmla="*/ 486137 h 1043559"/>
              <a:gd name="connsiteX20" fmla="*/ 1701478 w 3437681"/>
              <a:gd name="connsiteY20" fmla="*/ 497711 h 1043559"/>
              <a:gd name="connsiteX21" fmla="*/ 1747777 w 3437681"/>
              <a:gd name="connsiteY21" fmla="*/ 555585 h 1043559"/>
              <a:gd name="connsiteX22" fmla="*/ 1782501 w 3437681"/>
              <a:gd name="connsiteY22" fmla="*/ 567159 h 1043559"/>
              <a:gd name="connsiteX23" fmla="*/ 1840374 w 3437681"/>
              <a:gd name="connsiteY23" fmla="*/ 613458 h 1043559"/>
              <a:gd name="connsiteX24" fmla="*/ 1898248 w 3437681"/>
              <a:gd name="connsiteY24" fmla="*/ 659757 h 1043559"/>
              <a:gd name="connsiteX25" fmla="*/ 1967696 w 3437681"/>
              <a:gd name="connsiteY25" fmla="*/ 682906 h 1043559"/>
              <a:gd name="connsiteX26" fmla="*/ 2002420 w 3437681"/>
              <a:gd name="connsiteY26" fmla="*/ 798653 h 1043559"/>
              <a:gd name="connsiteX27" fmla="*/ 2013995 w 3437681"/>
              <a:gd name="connsiteY27" fmla="*/ 844952 h 1043559"/>
              <a:gd name="connsiteX28" fmla="*/ 2083443 w 3437681"/>
              <a:gd name="connsiteY28" fmla="*/ 879676 h 1043559"/>
              <a:gd name="connsiteX29" fmla="*/ 2338086 w 3437681"/>
              <a:gd name="connsiteY29" fmla="*/ 891251 h 1043559"/>
              <a:gd name="connsiteX30" fmla="*/ 2349660 w 3437681"/>
              <a:gd name="connsiteY30" fmla="*/ 925975 h 1043559"/>
              <a:gd name="connsiteX31" fmla="*/ 2592729 w 3437681"/>
              <a:gd name="connsiteY31" fmla="*/ 937549 h 1043559"/>
              <a:gd name="connsiteX32" fmla="*/ 2708476 w 3437681"/>
              <a:gd name="connsiteY32" fmla="*/ 949124 h 1043559"/>
              <a:gd name="connsiteX33" fmla="*/ 2777924 w 3437681"/>
              <a:gd name="connsiteY33" fmla="*/ 937549 h 1043559"/>
              <a:gd name="connsiteX34" fmla="*/ 2916820 w 3437681"/>
              <a:gd name="connsiteY34" fmla="*/ 960699 h 1043559"/>
              <a:gd name="connsiteX35" fmla="*/ 3044141 w 3437681"/>
              <a:gd name="connsiteY35" fmla="*/ 983848 h 1043559"/>
              <a:gd name="connsiteX36" fmla="*/ 3067291 w 3437681"/>
              <a:gd name="connsiteY36" fmla="*/ 1006997 h 1043559"/>
              <a:gd name="connsiteX37" fmla="*/ 3090440 w 3437681"/>
              <a:gd name="connsiteY37" fmla="*/ 1041722 h 1043559"/>
              <a:gd name="connsiteX38" fmla="*/ 3368233 w 3437681"/>
              <a:gd name="connsiteY38" fmla="*/ 1030147 h 1043559"/>
              <a:gd name="connsiteX39" fmla="*/ 3437681 w 3437681"/>
              <a:gd name="connsiteY39" fmla="*/ 1030147 h 1043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3437681" h="1043559">
                <a:moveTo>
                  <a:pt x="0" y="0"/>
                </a:moveTo>
                <a:cubicBezTo>
                  <a:pt x="27007" y="15433"/>
                  <a:pt x="54779" y="29599"/>
                  <a:pt x="81022" y="46299"/>
                </a:cubicBezTo>
                <a:cubicBezTo>
                  <a:pt x="105720" y="62016"/>
                  <a:pt x="157873" y="103702"/>
                  <a:pt x="173620" y="127322"/>
                </a:cubicBezTo>
                <a:lnTo>
                  <a:pt x="196769" y="162046"/>
                </a:lnTo>
                <a:cubicBezTo>
                  <a:pt x="198223" y="170767"/>
                  <a:pt x="211285" y="260524"/>
                  <a:pt x="219919" y="277792"/>
                </a:cubicBezTo>
                <a:cubicBezTo>
                  <a:pt x="230514" y="298983"/>
                  <a:pt x="272447" y="318451"/>
                  <a:pt x="289367" y="324091"/>
                </a:cubicBezTo>
                <a:cubicBezTo>
                  <a:pt x="308031" y="330312"/>
                  <a:pt x="327949" y="331808"/>
                  <a:pt x="347240" y="335666"/>
                </a:cubicBezTo>
                <a:cubicBezTo>
                  <a:pt x="428263" y="331808"/>
                  <a:pt x="509474" y="330827"/>
                  <a:pt x="590308" y="324091"/>
                </a:cubicBezTo>
                <a:cubicBezTo>
                  <a:pt x="602467" y="323078"/>
                  <a:pt x="612832" y="312516"/>
                  <a:pt x="625033" y="312516"/>
                </a:cubicBezTo>
                <a:cubicBezTo>
                  <a:pt x="675338" y="312516"/>
                  <a:pt x="725346" y="320233"/>
                  <a:pt x="775503" y="324091"/>
                </a:cubicBezTo>
                <a:cubicBezTo>
                  <a:pt x="787078" y="331808"/>
                  <a:pt x="800390" y="337404"/>
                  <a:pt x="810227" y="347241"/>
                </a:cubicBezTo>
                <a:cubicBezTo>
                  <a:pt x="843067" y="380081"/>
                  <a:pt x="829013" y="385759"/>
                  <a:pt x="844952" y="428263"/>
                </a:cubicBezTo>
                <a:cubicBezTo>
                  <a:pt x="851010" y="444419"/>
                  <a:pt x="861304" y="458703"/>
                  <a:pt x="868101" y="474562"/>
                </a:cubicBezTo>
                <a:cubicBezTo>
                  <a:pt x="872907" y="485776"/>
                  <a:pt x="874220" y="498373"/>
                  <a:pt x="879676" y="509286"/>
                </a:cubicBezTo>
                <a:cubicBezTo>
                  <a:pt x="899986" y="549907"/>
                  <a:pt x="910472" y="549745"/>
                  <a:pt x="949124" y="578734"/>
                </a:cubicBezTo>
                <a:cubicBezTo>
                  <a:pt x="1125635" y="572647"/>
                  <a:pt x="1250088" y="574646"/>
                  <a:pt x="1412111" y="555585"/>
                </a:cubicBezTo>
                <a:cubicBezTo>
                  <a:pt x="1446426" y="551548"/>
                  <a:pt x="1493242" y="542820"/>
                  <a:pt x="1527858" y="532435"/>
                </a:cubicBezTo>
                <a:cubicBezTo>
                  <a:pt x="1551230" y="525423"/>
                  <a:pt x="1574157" y="517002"/>
                  <a:pt x="1597306" y="509286"/>
                </a:cubicBezTo>
                <a:lnTo>
                  <a:pt x="1632030" y="497711"/>
                </a:lnTo>
                <a:lnTo>
                  <a:pt x="1666754" y="486137"/>
                </a:lnTo>
                <a:cubicBezTo>
                  <a:pt x="1678329" y="489995"/>
                  <a:pt x="1691016" y="491434"/>
                  <a:pt x="1701478" y="497711"/>
                </a:cubicBezTo>
                <a:cubicBezTo>
                  <a:pt x="1748667" y="526024"/>
                  <a:pt x="1700468" y="517739"/>
                  <a:pt x="1747777" y="555585"/>
                </a:cubicBezTo>
                <a:cubicBezTo>
                  <a:pt x="1757304" y="563207"/>
                  <a:pt x="1770926" y="563301"/>
                  <a:pt x="1782501" y="567159"/>
                </a:cubicBezTo>
                <a:cubicBezTo>
                  <a:pt x="1838391" y="623051"/>
                  <a:pt x="1767373" y="555057"/>
                  <a:pt x="1840374" y="613458"/>
                </a:cubicBezTo>
                <a:cubicBezTo>
                  <a:pt x="1870439" y="637510"/>
                  <a:pt x="1858168" y="641944"/>
                  <a:pt x="1898248" y="659757"/>
                </a:cubicBezTo>
                <a:cubicBezTo>
                  <a:pt x="1920546" y="669667"/>
                  <a:pt x="1967696" y="682906"/>
                  <a:pt x="1967696" y="682906"/>
                </a:cubicBezTo>
                <a:cubicBezTo>
                  <a:pt x="2014654" y="729866"/>
                  <a:pt x="1984320" y="690056"/>
                  <a:pt x="2002420" y="798653"/>
                </a:cubicBezTo>
                <a:cubicBezTo>
                  <a:pt x="2005035" y="814345"/>
                  <a:pt x="2005171" y="831716"/>
                  <a:pt x="2013995" y="844952"/>
                </a:cubicBezTo>
                <a:cubicBezTo>
                  <a:pt x="2022787" y="858140"/>
                  <a:pt x="2067170" y="878374"/>
                  <a:pt x="2083443" y="879676"/>
                </a:cubicBezTo>
                <a:cubicBezTo>
                  <a:pt x="2168141" y="886452"/>
                  <a:pt x="2253205" y="887393"/>
                  <a:pt x="2338086" y="891251"/>
                </a:cubicBezTo>
                <a:cubicBezTo>
                  <a:pt x="2341944" y="902826"/>
                  <a:pt x="2343383" y="915513"/>
                  <a:pt x="2349660" y="925975"/>
                </a:cubicBezTo>
                <a:cubicBezTo>
                  <a:pt x="2395612" y="1002562"/>
                  <a:pt x="2557701" y="939393"/>
                  <a:pt x="2592729" y="937549"/>
                </a:cubicBezTo>
                <a:cubicBezTo>
                  <a:pt x="2631311" y="941407"/>
                  <a:pt x="2669701" y="949124"/>
                  <a:pt x="2708476" y="949124"/>
                </a:cubicBezTo>
                <a:cubicBezTo>
                  <a:pt x="2731945" y="949124"/>
                  <a:pt x="2754491" y="936247"/>
                  <a:pt x="2777924" y="937549"/>
                </a:cubicBezTo>
                <a:cubicBezTo>
                  <a:pt x="2824789" y="940153"/>
                  <a:pt x="2870577" y="952657"/>
                  <a:pt x="2916820" y="960699"/>
                </a:cubicBezTo>
                <a:lnTo>
                  <a:pt x="3044141" y="983848"/>
                </a:lnTo>
                <a:cubicBezTo>
                  <a:pt x="3051858" y="991564"/>
                  <a:pt x="3060474" y="998476"/>
                  <a:pt x="3067291" y="1006997"/>
                </a:cubicBezTo>
                <a:cubicBezTo>
                  <a:pt x="3075981" y="1017860"/>
                  <a:pt x="3076570" y="1040655"/>
                  <a:pt x="3090440" y="1041722"/>
                </a:cubicBezTo>
                <a:cubicBezTo>
                  <a:pt x="3182845" y="1048830"/>
                  <a:pt x="3275606" y="1033235"/>
                  <a:pt x="3368233" y="1030147"/>
                </a:cubicBezTo>
                <a:cubicBezTo>
                  <a:pt x="3391369" y="1029376"/>
                  <a:pt x="3414532" y="1030147"/>
                  <a:pt x="3437681" y="1030147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3C635F6C-7BA0-3997-9B25-7D092E0F2A1E}"/>
              </a:ext>
            </a:extLst>
          </p:cNvPr>
          <p:cNvSpPr/>
          <p:nvPr/>
        </p:nvSpPr>
        <p:spPr>
          <a:xfrm>
            <a:off x="9815332" y="3298754"/>
            <a:ext cx="2025569" cy="1400568"/>
          </a:xfrm>
          <a:custGeom>
            <a:avLst/>
            <a:gdLst>
              <a:gd name="connsiteX0" fmla="*/ 0 w 2025569"/>
              <a:gd name="connsiteY0" fmla="*/ 1400568 h 1400568"/>
              <a:gd name="connsiteX1" fmla="*/ 92597 w 2025569"/>
              <a:gd name="connsiteY1" fmla="*/ 1388993 h 1400568"/>
              <a:gd name="connsiteX2" fmla="*/ 162045 w 2025569"/>
              <a:gd name="connsiteY2" fmla="*/ 1365843 h 1400568"/>
              <a:gd name="connsiteX3" fmla="*/ 185195 w 2025569"/>
              <a:gd name="connsiteY3" fmla="*/ 1342694 h 1400568"/>
              <a:gd name="connsiteX4" fmla="*/ 243068 w 2025569"/>
              <a:gd name="connsiteY4" fmla="*/ 1296395 h 1400568"/>
              <a:gd name="connsiteX5" fmla="*/ 289367 w 2025569"/>
              <a:gd name="connsiteY5" fmla="*/ 1238522 h 1400568"/>
              <a:gd name="connsiteX6" fmla="*/ 405114 w 2025569"/>
              <a:gd name="connsiteY6" fmla="*/ 1203798 h 1400568"/>
              <a:gd name="connsiteX7" fmla="*/ 439838 w 2025569"/>
              <a:gd name="connsiteY7" fmla="*/ 1192223 h 1400568"/>
              <a:gd name="connsiteX8" fmla="*/ 509286 w 2025569"/>
              <a:gd name="connsiteY8" fmla="*/ 1145924 h 1400568"/>
              <a:gd name="connsiteX9" fmla="*/ 544010 w 2025569"/>
              <a:gd name="connsiteY9" fmla="*/ 1122775 h 1400568"/>
              <a:gd name="connsiteX10" fmla="*/ 578734 w 2025569"/>
              <a:gd name="connsiteY10" fmla="*/ 1099626 h 1400568"/>
              <a:gd name="connsiteX11" fmla="*/ 636607 w 2025569"/>
              <a:gd name="connsiteY11" fmla="*/ 1053327 h 1400568"/>
              <a:gd name="connsiteX12" fmla="*/ 682906 w 2025569"/>
              <a:gd name="connsiteY12" fmla="*/ 983879 h 1400568"/>
              <a:gd name="connsiteX13" fmla="*/ 706055 w 2025569"/>
              <a:gd name="connsiteY13" fmla="*/ 949155 h 1400568"/>
              <a:gd name="connsiteX14" fmla="*/ 798653 w 2025569"/>
              <a:gd name="connsiteY14" fmla="*/ 879707 h 1400568"/>
              <a:gd name="connsiteX15" fmla="*/ 833377 w 2025569"/>
              <a:gd name="connsiteY15" fmla="*/ 868132 h 1400568"/>
              <a:gd name="connsiteX16" fmla="*/ 844952 w 2025569"/>
              <a:gd name="connsiteY16" fmla="*/ 833408 h 1400568"/>
              <a:gd name="connsiteX17" fmla="*/ 960698 w 2025569"/>
              <a:gd name="connsiteY17" fmla="*/ 821833 h 1400568"/>
              <a:gd name="connsiteX18" fmla="*/ 995422 w 2025569"/>
              <a:gd name="connsiteY18" fmla="*/ 833408 h 1400568"/>
              <a:gd name="connsiteX19" fmla="*/ 1111169 w 2025569"/>
              <a:gd name="connsiteY19" fmla="*/ 810259 h 1400568"/>
              <a:gd name="connsiteX20" fmla="*/ 1169043 w 2025569"/>
              <a:gd name="connsiteY20" fmla="*/ 763960 h 1400568"/>
              <a:gd name="connsiteX21" fmla="*/ 1180617 w 2025569"/>
              <a:gd name="connsiteY21" fmla="*/ 729236 h 1400568"/>
              <a:gd name="connsiteX22" fmla="*/ 1215341 w 2025569"/>
              <a:gd name="connsiteY22" fmla="*/ 578765 h 1400568"/>
              <a:gd name="connsiteX23" fmla="*/ 1226916 w 2025569"/>
              <a:gd name="connsiteY23" fmla="*/ 544041 h 1400568"/>
              <a:gd name="connsiteX24" fmla="*/ 1250065 w 2025569"/>
              <a:gd name="connsiteY24" fmla="*/ 509317 h 1400568"/>
              <a:gd name="connsiteX25" fmla="*/ 1261640 w 2025569"/>
              <a:gd name="connsiteY25" fmla="*/ 474593 h 1400568"/>
              <a:gd name="connsiteX26" fmla="*/ 1319514 w 2025569"/>
              <a:gd name="connsiteY26" fmla="*/ 416719 h 1400568"/>
              <a:gd name="connsiteX27" fmla="*/ 1354238 w 2025569"/>
              <a:gd name="connsiteY27" fmla="*/ 312547 h 1400568"/>
              <a:gd name="connsiteX28" fmla="*/ 1365812 w 2025569"/>
              <a:gd name="connsiteY28" fmla="*/ 277823 h 1400568"/>
              <a:gd name="connsiteX29" fmla="*/ 1388962 w 2025569"/>
              <a:gd name="connsiteY29" fmla="*/ 254674 h 1400568"/>
              <a:gd name="connsiteX30" fmla="*/ 1412111 w 2025569"/>
              <a:gd name="connsiteY30" fmla="*/ 173651 h 1400568"/>
              <a:gd name="connsiteX31" fmla="*/ 1481559 w 2025569"/>
              <a:gd name="connsiteY31" fmla="*/ 92628 h 1400568"/>
              <a:gd name="connsiteX32" fmla="*/ 1805650 w 2025569"/>
              <a:gd name="connsiteY32" fmla="*/ 57904 h 1400568"/>
              <a:gd name="connsiteX33" fmla="*/ 1944546 w 2025569"/>
              <a:gd name="connsiteY33" fmla="*/ 23180 h 1400568"/>
              <a:gd name="connsiteX34" fmla="*/ 1979271 w 2025569"/>
              <a:gd name="connsiteY34" fmla="*/ 11605 h 1400568"/>
              <a:gd name="connsiteX35" fmla="*/ 2025569 w 2025569"/>
              <a:gd name="connsiteY35" fmla="*/ 31 h 1400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2025569" h="1400568">
                <a:moveTo>
                  <a:pt x="0" y="1400568"/>
                </a:moveTo>
                <a:cubicBezTo>
                  <a:pt x="30866" y="1396710"/>
                  <a:pt x="62182" y="1395511"/>
                  <a:pt x="92597" y="1388993"/>
                </a:cubicBezTo>
                <a:cubicBezTo>
                  <a:pt x="116457" y="1383880"/>
                  <a:pt x="162045" y="1365843"/>
                  <a:pt x="162045" y="1365843"/>
                </a:cubicBezTo>
                <a:cubicBezTo>
                  <a:pt x="169762" y="1358127"/>
                  <a:pt x="176673" y="1349511"/>
                  <a:pt x="185195" y="1342694"/>
                </a:cubicBezTo>
                <a:cubicBezTo>
                  <a:pt x="218619" y="1315955"/>
                  <a:pt x="218225" y="1327449"/>
                  <a:pt x="243068" y="1296395"/>
                </a:cubicBezTo>
                <a:cubicBezTo>
                  <a:pt x="253974" y="1282762"/>
                  <a:pt x="270733" y="1247839"/>
                  <a:pt x="289367" y="1238522"/>
                </a:cubicBezTo>
                <a:cubicBezTo>
                  <a:pt x="326041" y="1220185"/>
                  <a:pt x="366347" y="1214875"/>
                  <a:pt x="405114" y="1203798"/>
                </a:cubicBezTo>
                <a:cubicBezTo>
                  <a:pt x="416845" y="1200446"/>
                  <a:pt x="429173" y="1198148"/>
                  <a:pt x="439838" y="1192223"/>
                </a:cubicBezTo>
                <a:cubicBezTo>
                  <a:pt x="464159" y="1178711"/>
                  <a:pt x="486137" y="1161357"/>
                  <a:pt x="509286" y="1145924"/>
                </a:cubicBezTo>
                <a:lnTo>
                  <a:pt x="544010" y="1122775"/>
                </a:lnTo>
                <a:cubicBezTo>
                  <a:pt x="555585" y="1115059"/>
                  <a:pt x="568898" y="1109463"/>
                  <a:pt x="578734" y="1099626"/>
                </a:cubicBezTo>
                <a:cubicBezTo>
                  <a:pt x="611719" y="1066639"/>
                  <a:pt x="592803" y="1082529"/>
                  <a:pt x="636607" y="1053327"/>
                </a:cubicBezTo>
                <a:lnTo>
                  <a:pt x="682906" y="983879"/>
                </a:lnTo>
                <a:cubicBezTo>
                  <a:pt x="690622" y="972304"/>
                  <a:pt x="696218" y="958992"/>
                  <a:pt x="706055" y="949155"/>
                </a:cubicBezTo>
                <a:cubicBezTo>
                  <a:pt x="733478" y="921732"/>
                  <a:pt x="759387" y="892796"/>
                  <a:pt x="798653" y="879707"/>
                </a:cubicBezTo>
                <a:lnTo>
                  <a:pt x="833377" y="868132"/>
                </a:lnTo>
                <a:cubicBezTo>
                  <a:pt x="837235" y="856557"/>
                  <a:pt x="837330" y="842935"/>
                  <a:pt x="844952" y="833408"/>
                </a:cubicBezTo>
                <a:cubicBezTo>
                  <a:pt x="878326" y="791691"/>
                  <a:pt x="913069" y="815029"/>
                  <a:pt x="960698" y="821833"/>
                </a:cubicBezTo>
                <a:cubicBezTo>
                  <a:pt x="972273" y="825691"/>
                  <a:pt x="983221" y="833408"/>
                  <a:pt x="995422" y="833408"/>
                </a:cubicBezTo>
                <a:cubicBezTo>
                  <a:pt x="1048619" y="833408"/>
                  <a:pt x="1068408" y="824512"/>
                  <a:pt x="1111169" y="810259"/>
                </a:cubicBezTo>
                <a:cubicBezTo>
                  <a:pt x="1126937" y="799747"/>
                  <a:pt x="1158049" y="782283"/>
                  <a:pt x="1169043" y="763960"/>
                </a:cubicBezTo>
                <a:cubicBezTo>
                  <a:pt x="1175320" y="753498"/>
                  <a:pt x="1176759" y="740811"/>
                  <a:pt x="1180617" y="729236"/>
                </a:cubicBezTo>
                <a:cubicBezTo>
                  <a:pt x="1195643" y="624059"/>
                  <a:pt x="1183565" y="674092"/>
                  <a:pt x="1215341" y="578765"/>
                </a:cubicBezTo>
                <a:cubicBezTo>
                  <a:pt x="1219199" y="567190"/>
                  <a:pt x="1220148" y="554193"/>
                  <a:pt x="1226916" y="544041"/>
                </a:cubicBezTo>
                <a:cubicBezTo>
                  <a:pt x="1234632" y="532466"/>
                  <a:pt x="1243844" y="521759"/>
                  <a:pt x="1250065" y="509317"/>
                </a:cubicBezTo>
                <a:cubicBezTo>
                  <a:pt x="1255521" y="498404"/>
                  <a:pt x="1254319" y="484354"/>
                  <a:pt x="1261640" y="474593"/>
                </a:cubicBezTo>
                <a:cubicBezTo>
                  <a:pt x="1278009" y="452767"/>
                  <a:pt x="1319514" y="416719"/>
                  <a:pt x="1319514" y="416719"/>
                </a:cubicBezTo>
                <a:lnTo>
                  <a:pt x="1354238" y="312547"/>
                </a:lnTo>
                <a:cubicBezTo>
                  <a:pt x="1358096" y="300972"/>
                  <a:pt x="1357185" y="286450"/>
                  <a:pt x="1365812" y="277823"/>
                </a:cubicBezTo>
                <a:lnTo>
                  <a:pt x="1388962" y="254674"/>
                </a:lnTo>
                <a:cubicBezTo>
                  <a:pt x="1392672" y="239834"/>
                  <a:pt x="1403806" y="190260"/>
                  <a:pt x="1412111" y="173651"/>
                </a:cubicBezTo>
                <a:cubicBezTo>
                  <a:pt x="1422479" y="152916"/>
                  <a:pt x="1464471" y="98324"/>
                  <a:pt x="1481559" y="92628"/>
                </a:cubicBezTo>
                <a:cubicBezTo>
                  <a:pt x="1631615" y="42610"/>
                  <a:pt x="1526631" y="70587"/>
                  <a:pt x="1805650" y="57904"/>
                </a:cubicBezTo>
                <a:cubicBezTo>
                  <a:pt x="1899169" y="42318"/>
                  <a:pt x="1852832" y="53752"/>
                  <a:pt x="1944546" y="23180"/>
                </a:cubicBezTo>
                <a:lnTo>
                  <a:pt x="1979271" y="11605"/>
                </a:lnTo>
                <a:cubicBezTo>
                  <a:pt x="2017654" y="-1189"/>
                  <a:pt x="2001795" y="31"/>
                  <a:pt x="2025569" y="31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27DE106-BA68-23CB-811F-5522E192E753}"/>
              </a:ext>
            </a:extLst>
          </p:cNvPr>
          <p:cNvCxnSpPr>
            <a:cxnSpLocks/>
          </p:cNvCxnSpPr>
          <p:nvPr/>
        </p:nvCxnSpPr>
        <p:spPr>
          <a:xfrm flipV="1">
            <a:off x="6724891" y="4007175"/>
            <a:ext cx="1076808" cy="8289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85725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5243C-A6B3-5524-F473-8DFED7408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gathering and prep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E908E6-EF98-5029-A0E6-B430039925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1100" y="1435261"/>
            <a:ext cx="6085144" cy="5057614"/>
          </a:xfrm>
        </p:spPr>
        <p:txBody>
          <a:bodyPr>
            <a:normAutofit/>
          </a:bodyPr>
          <a:lstStyle/>
          <a:p>
            <a:pPr marL="342900" marR="0" lvl="0" indent="-342900">
              <a:spcBef>
                <a:spcPts val="0"/>
              </a:spcBef>
              <a:spcAft>
                <a:spcPts val="1200"/>
              </a:spcAft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Bathymetry</a:t>
            </a:r>
          </a:p>
          <a:p>
            <a:pPr marL="342900" marR="0" lvl="0" indent="-342900">
              <a:spcBef>
                <a:spcPts val="0"/>
              </a:spcBef>
              <a:spcAft>
                <a:spcPts val="1200"/>
              </a:spcAft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FVCOM data for input, initial condition</a:t>
            </a:r>
          </a:p>
          <a:p>
            <a:pPr marL="342900" marR="0" lvl="0" indent="-342900">
              <a:spcBef>
                <a:spcPts val="0"/>
              </a:spcBef>
              <a:spcAft>
                <a:spcPts val="1200"/>
              </a:spcAft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Field measurements for validation</a:t>
            </a:r>
          </a:p>
          <a:p>
            <a:pPr marL="342900" marR="0" lvl="0" indent="-342900">
              <a:spcBef>
                <a:spcPts val="0"/>
              </a:spcBef>
              <a:spcAft>
                <a:spcPts val="1200"/>
              </a:spcAft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FVCOM data for comparison of advantages, disadvantages</a:t>
            </a:r>
          </a:p>
          <a:p>
            <a:pPr marL="342900" marR="0" lvl="0" indent="-342900">
              <a:spcBef>
                <a:spcPts val="0"/>
              </a:spcBef>
              <a:spcAft>
                <a:spcPts val="1200"/>
              </a:spcAft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dirty="0">
                <a:solidFill>
                  <a:srgbClr val="0070C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Generic underwater turbine, potentially with additional structures</a:t>
            </a:r>
          </a:p>
          <a:p>
            <a:pPr marL="800100" lvl="1" indent="-342900">
              <a:spcBef>
                <a:spcPts val="0"/>
              </a:spcBef>
              <a:spcAft>
                <a:spcPts val="1200"/>
              </a:spcAft>
              <a:buFont typeface="Courier New" panose="02070309020205020404" pitchFamily="49" charset="0"/>
              <a:buChar char="o"/>
              <a:tabLst>
                <a:tab pos="457200" algn="l"/>
              </a:tabLst>
            </a:pPr>
            <a:endParaRPr lang="en-US" sz="36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40A1674-44BE-FCE2-70E6-26FE13406725}"/>
              </a:ext>
            </a:extLst>
          </p:cNvPr>
          <p:cNvCxnSpPr/>
          <p:nvPr/>
        </p:nvCxnSpPr>
        <p:spPr>
          <a:xfrm>
            <a:off x="6400800" y="3429000"/>
            <a:ext cx="3426106" cy="10388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A2D0997-AFE1-C670-EBCE-22CD6F414B41}"/>
              </a:ext>
            </a:extLst>
          </p:cNvPr>
          <p:cNvCxnSpPr/>
          <p:nvPr/>
        </p:nvCxnSpPr>
        <p:spPr>
          <a:xfrm>
            <a:off x="8425646" y="1825625"/>
            <a:ext cx="3426106" cy="10388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A769922-B6A6-A0D1-00C6-02A982904E69}"/>
              </a:ext>
            </a:extLst>
          </p:cNvPr>
          <p:cNvCxnSpPr>
            <a:cxnSpLocks/>
          </p:cNvCxnSpPr>
          <p:nvPr/>
        </p:nvCxnSpPr>
        <p:spPr>
          <a:xfrm flipV="1">
            <a:off x="6400800" y="1825625"/>
            <a:ext cx="2024846" cy="160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E0B41AA-2687-9D79-F7A8-50C181216236}"/>
              </a:ext>
            </a:extLst>
          </p:cNvPr>
          <p:cNvCxnSpPr>
            <a:cxnSpLocks/>
          </p:cNvCxnSpPr>
          <p:nvPr/>
        </p:nvCxnSpPr>
        <p:spPr>
          <a:xfrm flipV="1">
            <a:off x="9826906" y="2864453"/>
            <a:ext cx="2024846" cy="160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39A5158-98E2-9C63-9B74-A5EBD4773D15}"/>
              </a:ext>
            </a:extLst>
          </p:cNvPr>
          <p:cNvCxnSpPr/>
          <p:nvPr/>
        </p:nvCxnSpPr>
        <p:spPr>
          <a:xfrm>
            <a:off x="9826906" y="4467828"/>
            <a:ext cx="0" cy="6829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0CEDBD8-61BF-86EC-C7BE-23EFF4F8499D}"/>
              </a:ext>
            </a:extLst>
          </p:cNvPr>
          <p:cNvCxnSpPr/>
          <p:nvPr/>
        </p:nvCxnSpPr>
        <p:spPr>
          <a:xfrm>
            <a:off x="6400799" y="3429000"/>
            <a:ext cx="0" cy="6829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0BBE867-5A18-B98B-458C-A5B461127E6B}"/>
              </a:ext>
            </a:extLst>
          </p:cNvPr>
          <p:cNvCxnSpPr/>
          <p:nvPr/>
        </p:nvCxnSpPr>
        <p:spPr>
          <a:xfrm>
            <a:off x="8425646" y="1825625"/>
            <a:ext cx="0" cy="682906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206FD61-656A-FB36-7546-13AAD02F7688}"/>
              </a:ext>
            </a:extLst>
          </p:cNvPr>
          <p:cNvCxnSpPr/>
          <p:nvPr/>
        </p:nvCxnSpPr>
        <p:spPr>
          <a:xfrm>
            <a:off x="11851752" y="2864453"/>
            <a:ext cx="0" cy="682906"/>
          </a:xfrm>
          <a:prstGeom prst="line">
            <a:avLst/>
          </a:prstGeom>
          <a:ln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B99B26C-BDDB-A063-2B20-B890C36DF997}"/>
              </a:ext>
            </a:extLst>
          </p:cNvPr>
          <p:cNvCxnSpPr/>
          <p:nvPr/>
        </p:nvCxnSpPr>
        <p:spPr>
          <a:xfrm>
            <a:off x="6413098" y="4099307"/>
            <a:ext cx="3426106" cy="10388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B9D3817-E570-341E-335D-BAC3CCC3157F}"/>
              </a:ext>
            </a:extLst>
          </p:cNvPr>
          <p:cNvCxnSpPr/>
          <p:nvPr/>
        </p:nvCxnSpPr>
        <p:spPr>
          <a:xfrm>
            <a:off x="8437944" y="2495932"/>
            <a:ext cx="3426106" cy="1038828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DFCF660-DFB3-1586-C602-67955176070B}"/>
              </a:ext>
            </a:extLst>
          </p:cNvPr>
          <p:cNvCxnSpPr>
            <a:cxnSpLocks/>
          </p:cNvCxnSpPr>
          <p:nvPr/>
        </p:nvCxnSpPr>
        <p:spPr>
          <a:xfrm flipV="1">
            <a:off x="6413098" y="2495932"/>
            <a:ext cx="2024846" cy="1603375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346AD4E-A539-4EF0-DB8E-CB2FD0FD6C97}"/>
              </a:ext>
            </a:extLst>
          </p:cNvPr>
          <p:cNvCxnSpPr>
            <a:cxnSpLocks/>
          </p:cNvCxnSpPr>
          <p:nvPr/>
        </p:nvCxnSpPr>
        <p:spPr>
          <a:xfrm flipV="1">
            <a:off x="9839204" y="3534760"/>
            <a:ext cx="2024846" cy="160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Freeform 20">
            <a:extLst>
              <a:ext uri="{FF2B5EF4-FFF2-40B4-BE49-F238E27FC236}">
                <a16:creationId xmlns:a16="http://schemas.microsoft.com/office/drawing/2014/main" id="{A44465E7-09B5-9367-CBA7-A2106E15078A}"/>
              </a:ext>
            </a:extLst>
          </p:cNvPr>
          <p:cNvSpPr/>
          <p:nvPr/>
        </p:nvSpPr>
        <p:spPr>
          <a:xfrm>
            <a:off x="6377651" y="3657600"/>
            <a:ext cx="3437681" cy="1043559"/>
          </a:xfrm>
          <a:custGeom>
            <a:avLst/>
            <a:gdLst>
              <a:gd name="connsiteX0" fmla="*/ 0 w 3437681"/>
              <a:gd name="connsiteY0" fmla="*/ 0 h 1043559"/>
              <a:gd name="connsiteX1" fmla="*/ 81022 w 3437681"/>
              <a:gd name="connsiteY1" fmla="*/ 46299 h 1043559"/>
              <a:gd name="connsiteX2" fmla="*/ 173620 w 3437681"/>
              <a:gd name="connsiteY2" fmla="*/ 127322 h 1043559"/>
              <a:gd name="connsiteX3" fmla="*/ 196769 w 3437681"/>
              <a:gd name="connsiteY3" fmla="*/ 162046 h 1043559"/>
              <a:gd name="connsiteX4" fmla="*/ 219919 w 3437681"/>
              <a:gd name="connsiteY4" fmla="*/ 277792 h 1043559"/>
              <a:gd name="connsiteX5" fmla="*/ 289367 w 3437681"/>
              <a:gd name="connsiteY5" fmla="*/ 324091 h 1043559"/>
              <a:gd name="connsiteX6" fmla="*/ 347240 w 3437681"/>
              <a:gd name="connsiteY6" fmla="*/ 335666 h 1043559"/>
              <a:gd name="connsiteX7" fmla="*/ 590308 w 3437681"/>
              <a:gd name="connsiteY7" fmla="*/ 324091 h 1043559"/>
              <a:gd name="connsiteX8" fmla="*/ 625033 w 3437681"/>
              <a:gd name="connsiteY8" fmla="*/ 312516 h 1043559"/>
              <a:gd name="connsiteX9" fmla="*/ 775503 w 3437681"/>
              <a:gd name="connsiteY9" fmla="*/ 324091 h 1043559"/>
              <a:gd name="connsiteX10" fmla="*/ 810227 w 3437681"/>
              <a:gd name="connsiteY10" fmla="*/ 347241 h 1043559"/>
              <a:gd name="connsiteX11" fmla="*/ 844952 w 3437681"/>
              <a:gd name="connsiteY11" fmla="*/ 428263 h 1043559"/>
              <a:gd name="connsiteX12" fmla="*/ 868101 w 3437681"/>
              <a:gd name="connsiteY12" fmla="*/ 474562 h 1043559"/>
              <a:gd name="connsiteX13" fmla="*/ 879676 w 3437681"/>
              <a:gd name="connsiteY13" fmla="*/ 509286 h 1043559"/>
              <a:gd name="connsiteX14" fmla="*/ 949124 w 3437681"/>
              <a:gd name="connsiteY14" fmla="*/ 578734 h 1043559"/>
              <a:gd name="connsiteX15" fmla="*/ 1412111 w 3437681"/>
              <a:gd name="connsiteY15" fmla="*/ 555585 h 1043559"/>
              <a:gd name="connsiteX16" fmla="*/ 1527858 w 3437681"/>
              <a:gd name="connsiteY16" fmla="*/ 532435 h 1043559"/>
              <a:gd name="connsiteX17" fmla="*/ 1597306 w 3437681"/>
              <a:gd name="connsiteY17" fmla="*/ 509286 h 1043559"/>
              <a:gd name="connsiteX18" fmla="*/ 1632030 w 3437681"/>
              <a:gd name="connsiteY18" fmla="*/ 497711 h 1043559"/>
              <a:gd name="connsiteX19" fmla="*/ 1666754 w 3437681"/>
              <a:gd name="connsiteY19" fmla="*/ 486137 h 1043559"/>
              <a:gd name="connsiteX20" fmla="*/ 1701478 w 3437681"/>
              <a:gd name="connsiteY20" fmla="*/ 497711 h 1043559"/>
              <a:gd name="connsiteX21" fmla="*/ 1747777 w 3437681"/>
              <a:gd name="connsiteY21" fmla="*/ 555585 h 1043559"/>
              <a:gd name="connsiteX22" fmla="*/ 1782501 w 3437681"/>
              <a:gd name="connsiteY22" fmla="*/ 567159 h 1043559"/>
              <a:gd name="connsiteX23" fmla="*/ 1840374 w 3437681"/>
              <a:gd name="connsiteY23" fmla="*/ 613458 h 1043559"/>
              <a:gd name="connsiteX24" fmla="*/ 1898248 w 3437681"/>
              <a:gd name="connsiteY24" fmla="*/ 659757 h 1043559"/>
              <a:gd name="connsiteX25" fmla="*/ 1967696 w 3437681"/>
              <a:gd name="connsiteY25" fmla="*/ 682906 h 1043559"/>
              <a:gd name="connsiteX26" fmla="*/ 2002420 w 3437681"/>
              <a:gd name="connsiteY26" fmla="*/ 798653 h 1043559"/>
              <a:gd name="connsiteX27" fmla="*/ 2013995 w 3437681"/>
              <a:gd name="connsiteY27" fmla="*/ 844952 h 1043559"/>
              <a:gd name="connsiteX28" fmla="*/ 2083443 w 3437681"/>
              <a:gd name="connsiteY28" fmla="*/ 879676 h 1043559"/>
              <a:gd name="connsiteX29" fmla="*/ 2338086 w 3437681"/>
              <a:gd name="connsiteY29" fmla="*/ 891251 h 1043559"/>
              <a:gd name="connsiteX30" fmla="*/ 2349660 w 3437681"/>
              <a:gd name="connsiteY30" fmla="*/ 925975 h 1043559"/>
              <a:gd name="connsiteX31" fmla="*/ 2592729 w 3437681"/>
              <a:gd name="connsiteY31" fmla="*/ 937549 h 1043559"/>
              <a:gd name="connsiteX32" fmla="*/ 2708476 w 3437681"/>
              <a:gd name="connsiteY32" fmla="*/ 949124 h 1043559"/>
              <a:gd name="connsiteX33" fmla="*/ 2777924 w 3437681"/>
              <a:gd name="connsiteY33" fmla="*/ 937549 h 1043559"/>
              <a:gd name="connsiteX34" fmla="*/ 2916820 w 3437681"/>
              <a:gd name="connsiteY34" fmla="*/ 960699 h 1043559"/>
              <a:gd name="connsiteX35" fmla="*/ 3044141 w 3437681"/>
              <a:gd name="connsiteY35" fmla="*/ 983848 h 1043559"/>
              <a:gd name="connsiteX36" fmla="*/ 3067291 w 3437681"/>
              <a:gd name="connsiteY36" fmla="*/ 1006997 h 1043559"/>
              <a:gd name="connsiteX37" fmla="*/ 3090440 w 3437681"/>
              <a:gd name="connsiteY37" fmla="*/ 1041722 h 1043559"/>
              <a:gd name="connsiteX38" fmla="*/ 3368233 w 3437681"/>
              <a:gd name="connsiteY38" fmla="*/ 1030147 h 1043559"/>
              <a:gd name="connsiteX39" fmla="*/ 3437681 w 3437681"/>
              <a:gd name="connsiteY39" fmla="*/ 1030147 h 1043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3437681" h="1043559">
                <a:moveTo>
                  <a:pt x="0" y="0"/>
                </a:moveTo>
                <a:cubicBezTo>
                  <a:pt x="27007" y="15433"/>
                  <a:pt x="54779" y="29599"/>
                  <a:pt x="81022" y="46299"/>
                </a:cubicBezTo>
                <a:cubicBezTo>
                  <a:pt x="105720" y="62016"/>
                  <a:pt x="157873" y="103702"/>
                  <a:pt x="173620" y="127322"/>
                </a:cubicBezTo>
                <a:lnTo>
                  <a:pt x="196769" y="162046"/>
                </a:lnTo>
                <a:cubicBezTo>
                  <a:pt x="198223" y="170767"/>
                  <a:pt x="211285" y="260524"/>
                  <a:pt x="219919" y="277792"/>
                </a:cubicBezTo>
                <a:cubicBezTo>
                  <a:pt x="230514" y="298983"/>
                  <a:pt x="272447" y="318451"/>
                  <a:pt x="289367" y="324091"/>
                </a:cubicBezTo>
                <a:cubicBezTo>
                  <a:pt x="308031" y="330312"/>
                  <a:pt x="327949" y="331808"/>
                  <a:pt x="347240" y="335666"/>
                </a:cubicBezTo>
                <a:cubicBezTo>
                  <a:pt x="428263" y="331808"/>
                  <a:pt x="509474" y="330827"/>
                  <a:pt x="590308" y="324091"/>
                </a:cubicBezTo>
                <a:cubicBezTo>
                  <a:pt x="602467" y="323078"/>
                  <a:pt x="612832" y="312516"/>
                  <a:pt x="625033" y="312516"/>
                </a:cubicBezTo>
                <a:cubicBezTo>
                  <a:pt x="675338" y="312516"/>
                  <a:pt x="725346" y="320233"/>
                  <a:pt x="775503" y="324091"/>
                </a:cubicBezTo>
                <a:cubicBezTo>
                  <a:pt x="787078" y="331808"/>
                  <a:pt x="800390" y="337404"/>
                  <a:pt x="810227" y="347241"/>
                </a:cubicBezTo>
                <a:cubicBezTo>
                  <a:pt x="843067" y="380081"/>
                  <a:pt x="829013" y="385759"/>
                  <a:pt x="844952" y="428263"/>
                </a:cubicBezTo>
                <a:cubicBezTo>
                  <a:pt x="851010" y="444419"/>
                  <a:pt x="861304" y="458703"/>
                  <a:pt x="868101" y="474562"/>
                </a:cubicBezTo>
                <a:cubicBezTo>
                  <a:pt x="872907" y="485776"/>
                  <a:pt x="874220" y="498373"/>
                  <a:pt x="879676" y="509286"/>
                </a:cubicBezTo>
                <a:cubicBezTo>
                  <a:pt x="899986" y="549907"/>
                  <a:pt x="910472" y="549745"/>
                  <a:pt x="949124" y="578734"/>
                </a:cubicBezTo>
                <a:cubicBezTo>
                  <a:pt x="1125635" y="572647"/>
                  <a:pt x="1250088" y="574646"/>
                  <a:pt x="1412111" y="555585"/>
                </a:cubicBezTo>
                <a:cubicBezTo>
                  <a:pt x="1446426" y="551548"/>
                  <a:pt x="1493242" y="542820"/>
                  <a:pt x="1527858" y="532435"/>
                </a:cubicBezTo>
                <a:cubicBezTo>
                  <a:pt x="1551230" y="525423"/>
                  <a:pt x="1574157" y="517002"/>
                  <a:pt x="1597306" y="509286"/>
                </a:cubicBezTo>
                <a:lnTo>
                  <a:pt x="1632030" y="497711"/>
                </a:lnTo>
                <a:lnTo>
                  <a:pt x="1666754" y="486137"/>
                </a:lnTo>
                <a:cubicBezTo>
                  <a:pt x="1678329" y="489995"/>
                  <a:pt x="1691016" y="491434"/>
                  <a:pt x="1701478" y="497711"/>
                </a:cubicBezTo>
                <a:cubicBezTo>
                  <a:pt x="1748667" y="526024"/>
                  <a:pt x="1700468" y="517739"/>
                  <a:pt x="1747777" y="555585"/>
                </a:cubicBezTo>
                <a:cubicBezTo>
                  <a:pt x="1757304" y="563207"/>
                  <a:pt x="1770926" y="563301"/>
                  <a:pt x="1782501" y="567159"/>
                </a:cubicBezTo>
                <a:cubicBezTo>
                  <a:pt x="1838391" y="623051"/>
                  <a:pt x="1767373" y="555057"/>
                  <a:pt x="1840374" y="613458"/>
                </a:cubicBezTo>
                <a:cubicBezTo>
                  <a:pt x="1870439" y="637510"/>
                  <a:pt x="1858168" y="641944"/>
                  <a:pt x="1898248" y="659757"/>
                </a:cubicBezTo>
                <a:cubicBezTo>
                  <a:pt x="1920546" y="669667"/>
                  <a:pt x="1967696" y="682906"/>
                  <a:pt x="1967696" y="682906"/>
                </a:cubicBezTo>
                <a:cubicBezTo>
                  <a:pt x="2014654" y="729866"/>
                  <a:pt x="1984320" y="690056"/>
                  <a:pt x="2002420" y="798653"/>
                </a:cubicBezTo>
                <a:cubicBezTo>
                  <a:pt x="2005035" y="814345"/>
                  <a:pt x="2005171" y="831716"/>
                  <a:pt x="2013995" y="844952"/>
                </a:cubicBezTo>
                <a:cubicBezTo>
                  <a:pt x="2022787" y="858140"/>
                  <a:pt x="2067170" y="878374"/>
                  <a:pt x="2083443" y="879676"/>
                </a:cubicBezTo>
                <a:cubicBezTo>
                  <a:pt x="2168141" y="886452"/>
                  <a:pt x="2253205" y="887393"/>
                  <a:pt x="2338086" y="891251"/>
                </a:cubicBezTo>
                <a:cubicBezTo>
                  <a:pt x="2341944" y="902826"/>
                  <a:pt x="2343383" y="915513"/>
                  <a:pt x="2349660" y="925975"/>
                </a:cubicBezTo>
                <a:cubicBezTo>
                  <a:pt x="2395612" y="1002562"/>
                  <a:pt x="2557701" y="939393"/>
                  <a:pt x="2592729" y="937549"/>
                </a:cubicBezTo>
                <a:cubicBezTo>
                  <a:pt x="2631311" y="941407"/>
                  <a:pt x="2669701" y="949124"/>
                  <a:pt x="2708476" y="949124"/>
                </a:cubicBezTo>
                <a:cubicBezTo>
                  <a:pt x="2731945" y="949124"/>
                  <a:pt x="2754491" y="936247"/>
                  <a:pt x="2777924" y="937549"/>
                </a:cubicBezTo>
                <a:cubicBezTo>
                  <a:pt x="2824789" y="940153"/>
                  <a:pt x="2870577" y="952657"/>
                  <a:pt x="2916820" y="960699"/>
                </a:cubicBezTo>
                <a:lnTo>
                  <a:pt x="3044141" y="983848"/>
                </a:lnTo>
                <a:cubicBezTo>
                  <a:pt x="3051858" y="991564"/>
                  <a:pt x="3060474" y="998476"/>
                  <a:pt x="3067291" y="1006997"/>
                </a:cubicBezTo>
                <a:cubicBezTo>
                  <a:pt x="3075981" y="1017860"/>
                  <a:pt x="3076570" y="1040655"/>
                  <a:pt x="3090440" y="1041722"/>
                </a:cubicBezTo>
                <a:cubicBezTo>
                  <a:pt x="3182845" y="1048830"/>
                  <a:pt x="3275606" y="1033235"/>
                  <a:pt x="3368233" y="1030147"/>
                </a:cubicBezTo>
                <a:cubicBezTo>
                  <a:pt x="3391369" y="1029376"/>
                  <a:pt x="3414532" y="1030147"/>
                  <a:pt x="3437681" y="1030147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3C635F6C-7BA0-3997-9B25-7D092E0F2A1E}"/>
              </a:ext>
            </a:extLst>
          </p:cNvPr>
          <p:cNvSpPr/>
          <p:nvPr/>
        </p:nvSpPr>
        <p:spPr>
          <a:xfrm>
            <a:off x="9815332" y="3298754"/>
            <a:ext cx="2025569" cy="1400568"/>
          </a:xfrm>
          <a:custGeom>
            <a:avLst/>
            <a:gdLst>
              <a:gd name="connsiteX0" fmla="*/ 0 w 2025569"/>
              <a:gd name="connsiteY0" fmla="*/ 1400568 h 1400568"/>
              <a:gd name="connsiteX1" fmla="*/ 92597 w 2025569"/>
              <a:gd name="connsiteY1" fmla="*/ 1388993 h 1400568"/>
              <a:gd name="connsiteX2" fmla="*/ 162045 w 2025569"/>
              <a:gd name="connsiteY2" fmla="*/ 1365843 h 1400568"/>
              <a:gd name="connsiteX3" fmla="*/ 185195 w 2025569"/>
              <a:gd name="connsiteY3" fmla="*/ 1342694 h 1400568"/>
              <a:gd name="connsiteX4" fmla="*/ 243068 w 2025569"/>
              <a:gd name="connsiteY4" fmla="*/ 1296395 h 1400568"/>
              <a:gd name="connsiteX5" fmla="*/ 289367 w 2025569"/>
              <a:gd name="connsiteY5" fmla="*/ 1238522 h 1400568"/>
              <a:gd name="connsiteX6" fmla="*/ 405114 w 2025569"/>
              <a:gd name="connsiteY6" fmla="*/ 1203798 h 1400568"/>
              <a:gd name="connsiteX7" fmla="*/ 439838 w 2025569"/>
              <a:gd name="connsiteY7" fmla="*/ 1192223 h 1400568"/>
              <a:gd name="connsiteX8" fmla="*/ 509286 w 2025569"/>
              <a:gd name="connsiteY8" fmla="*/ 1145924 h 1400568"/>
              <a:gd name="connsiteX9" fmla="*/ 544010 w 2025569"/>
              <a:gd name="connsiteY9" fmla="*/ 1122775 h 1400568"/>
              <a:gd name="connsiteX10" fmla="*/ 578734 w 2025569"/>
              <a:gd name="connsiteY10" fmla="*/ 1099626 h 1400568"/>
              <a:gd name="connsiteX11" fmla="*/ 636607 w 2025569"/>
              <a:gd name="connsiteY11" fmla="*/ 1053327 h 1400568"/>
              <a:gd name="connsiteX12" fmla="*/ 682906 w 2025569"/>
              <a:gd name="connsiteY12" fmla="*/ 983879 h 1400568"/>
              <a:gd name="connsiteX13" fmla="*/ 706055 w 2025569"/>
              <a:gd name="connsiteY13" fmla="*/ 949155 h 1400568"/>
              <a:gd name="connsiteX14" fmla="*/ 798653 w 2025569"/>
              <a:gd name="connsiteY14" fmla="*/ 879707 h 1400568"/>
              <a:gd name="connsiteX15" fmla="*/ 833377 w 2025569"/>
              <a:gd name="connsiteY15" fmla="*/ 868132 h 1400568"/>
              <a:gd name="connsiteX16" fmla="*/ 844952 w 2025569"/>
              <a:gd name="connsiteY16" fmla="*/ 833408 h 1400568"/>
              <a:gd name="connsiteX17" fmla="*/ 960698 w 2025569"/>
              <a:gd name="connsiteY17" fmla="*/ 821833 h 1400568"/>
              <a:gd name="connsiteX18" fmla="*/ 995422 w 2025569"/>
              <a:gd name="connsiteY18" fmla="*/ 833408 h 1400568"/>
              <a:gd name="connsiteX19" fmla="*/ 1111169 w 2025569"/>
              <a:gd name="connsiteY19" fmla="*/ 810259 h 1400568"/>
              <a:gd name="connsiteX20" fmla="*/ 1169043 w 2025569"/>
              <a:gd name="connsiteY20" fmla="*/ 763960 h 1400568"/>
              <a:gd name="connsiteX21" fmla="*/ 1180617 w 2025569"/>
              <a:gd name="connsiteY21" fmla="*/ 729236 h 1400568"/>
              <a:gd name="connsiteX22" fmla="*/ 1215341 w 2025569"/>
              <a:gd name="connsiteY22" fmla="*/ 578765 h 1400568"/>
              <a:gd name="connsiteX23" fmla="*/ 1226916 w 2025569"/>
              <a:gd name="connsiteY23" fmla="*/ 544041 h 1400568"/>
              <a:gd name="connsiteX24" fmla="*/ 1250065 w 2025569"/>
              <a:gd name="connsiteY24" fmla="*/ 509317 h 1400568"/>
              <a:gd name="connsiteX25" fmla="*/ 1261640 w 2025569"/>
              <a:gd name="connsiteY25" fmla="*/ 474593 h 1400568"/>
              <a:gd name="connsiteX26" fmla="*/ 1319514 w 2025569"/>
              <a:gd name="connsiteY26" fmla="*/ 416719 h 1400568"/>
              <a:gd name="connsiteX27" fmla="*/ 1354238 w 2025569"/>
              <a:gd name="connsiteY27" fmla="*/ 312547 h 1400568"/>
              <a:gd name="connsiteX28" fmla="*/ 1365812 w 2025569"/>
              <a:gd name="connsiteY28" fmla="*/ 277823 h 1400568"/>
              <a:gd name="connsiteX29" fmla="*/ 1388962 w 2025569"/>
              <a:gd name="connsiteY29" fmla="*/ 254674 h 1400568"/>
              <a:gd name="connsiteX30" fmla="*/ 1412111 w 2025569"/>
              <a:gd name="connsiteY30" fmla="*/ 173651 h 1400568"/>
              <a:gd name="connsiteX31" fmla="*/ 1481559 w 2025569"/>
              <a:gd name="connsiteY31" fmla="*/ 92628 h 1400568"/>
              <a:gd name="connsiteX32" fmla="*/ 1805650 w 2025569"/>
              <a:gd name="connsiteY32" fmla="*/ 57904 h 1400568"/>
              <a:gd name="connsiteX33" fmla="*/ 1944546 w 2025569"/>
              <a:gd name="connsiteY33" fmla="*/ 23180 h 1400568"/>
              <a:gd name="connsiteX34" fmla="*/ 1979271 w 2025569"/>
              <a:gd name="connsiteY34" fmla="*/ 11605 h 1400568"/>
              <a:gd name="connsiteX35" fmla="*/ 2025569 w 2025569"/>
              <a:gd name="connsiteY35" fmla="*/ 31 h 1400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2025569" h="1400568">
                <a:moveTo>
                  <a:pt x="0" y="1400568"/>
                </a:moveTo>
                <a:cubicBezTo>
                  <a:pt x="30866" y="1396710"/>
                  <a:pt x="62182" y="1395511"/>
                  <a:pt x="92597" y="1388993"/>
                </a:cubicBezTo>
                <a:cubicBezTo>
                  <a:pt x="116457" y="1383880"/>
                  <a:pt x="162045" y="1365843"/>
                  <a:pt x="162045" y="1365843"/>
                </a:cubicBezTo>
                <a:cubicBezTo>
                  <a:pt x="169762" y="1358127"/>
                  <a:pt x="176673" y="1349511"/>
                  <a:pt x="185195" y="1342694"/>
                </a:cubicBezTo>
                <a:cubicBezTo>
                  <a:pt x="218619" y="1315955"/>
                  <a:pt x="218225" y="1327449"/>
                  <a:pt x="243068" y="1296395"/>
                </a:cubicBezTo>
                <a:cubicBezTo>
                  <a:pt x="253974" y="1282762"/>
                  <a:pt x="270733" y="1247839"/>
                  <a:pt x="289367" y="1238522"/>
                </a:cubicBezTo>
                <a:cubicBezTo>
                  <a:pt x="326041" y="1220185"/>
                  <a:pt x="366347" y="1214875"/>
                  <a:pt x="405114" y="1203798"/>
                </a:cubicBezTo>
                <a:cubicBezTo>
                  <a:pt x="416845" y="1200446"/>
                  <a:pt x="429173" y="1198148"/>
                  <a:pt x="439838" y="1192223"/>
                </a:cubicBezTo>
                <a:cubicBezTo>
                  <a:pt x="464159" y="1178711"/>
                  <a:pt x="486137" y="1161357"/>
                  <a:pt x="509286" y="1145924"/>
                </a:cubicBezTo>
                <a:lnTo>
                  <a:pt x="544010" y="1122775"/>
                </a:lnTo>
                <a:cubicBezTo>
                  <a:pt x="555585" y="1115059"/>
                  <a:pt x="568898" y="1109463"/>
                  <a:pt x="578734" y="1099626"/>
                </a:cubicBezTo>
                <a:cubicBezTo>
                  <a:pt x="611719" y="1066639"/>
                  <a:pt x="592803" y="1082529"/>
                  <a:pt x="636607" y="1053327"/>
                </a:cubicBezTo>
                <a:lnTo>
                  <a:pt x="682906" y="983879"/>
                </a:lnTo>
                <a:cubicBezTo>
                  <a:pt x="690622" y="972304"/>
                  <a:pt x="696218" y="958992"/>
                  <a:pt x="706055" y="949155"/>
                </a:cubicBezTo>
                <a:cubicBezTo>
                  <a:pt x="733478" y="921732"/>
                  <a:pt x="759387" y="892796"/>
                  <a:pt x="798653" y="879707"/>
                </a:cubicBezTo>
                <a:lnTo>
                  <a:pt x="833377" y="868132"/>
                </a:lnTo>
                <a:cubicBezTo>
                  <a:pt x="837235" y="856557"/>
                  <a:pt x="837330" y="842935"/>
                  <a:pt x="844952" y="833408"/>
                </a:cubicBezTo>
                <a:cubicBezTo>
                  <a:pt x="878326" y="791691"/>
                  <a:pt x="913069" y="815029"/>
                  <a:pt x="960698" y="821833"/>
                </a:cubicBezTo>
                <a:cubicBezTo>
                  <a:pt x="972273" y="825691"/>
                  <a:pt x="983221" y="833408"/>
                  <a:pt x="995422" y="833408"/>
                </a:cubicBezTo>
                <a:cubicBezTo>
                  <a:pt x="1048619" y="833408"/>
                  <a:pt x="1068408" y="824512"/>
                  <a:pt x="1111169" y="810259"/>
                </a:cubicBezTo>
                <a:cubicBezTo>
                  <a:pt x="1126937" y="799747"/>
                  <a:pt x="1158049" y="782283"/>
                  <a:pt x="1169043" y="763960"/>
                </a:cubicBezTo>
                <a:cubicBezTo>
                  <a:pt x="1175320" y="753498"/>
                  <a:pt x="1176759" y="740811"/>
                  <a:pt x="1180617" y="729236"/>
                </a:cubicBezTo>
                <a:cubicBezTo>
                  <a:pt x="1195643" y="624059"/>
                  <a:pt x="1183565" y="674092"/>
                  <a:pt x="1215341" y="578765"/>
                </a:cubicBezTo>
                <a:cubicBezTo>
                  <a:pt x="1219199" y="567190"/>
                  <a:pt x="1220148" y="554193"/>
                  <a:pt x="1226916" y="544041"/>
                </a:cubicBezTo>
                <a:cubicBezTo>
                  <a:pt x="1234632" y="532466"/>
                  <a:pt x="1243844" y="521759"/>
                  <a:pt x="1250065" y="509317"/>
                </a:cubicBezTo>
                <a:cubicBezTo>
                  <a:pt x="1255521" y="498404"/>
                  <a:pt x="1254319" y="484354"/>
                  <a:pt x="1261640" y="474593"/>
                </a:cubicBezTo>
                <a:cubicBezTo>
                  <a:pt x="1278009" y="452767"/>
                  <a:pt x="1319514" y="416719"/>
                  <a:pt x="1319514" y="416719"/>
                </a:cubicBezTo>
                <a:lnTo>
                  <a:pt x="1354238" y="312547"/>
                </a:lnTo>
                <a:cubicBezTo>
                  <a:pt x="1358096" y="300972"/>
                  <a:pt x="1357185" y="286450"/>
                  <a:pt x="1365812" y="277823"/>
                </a:cubicBezTo>
                <a:lnTo>
                  <a:pt x="1388962" y="254674"/>
                </a:lnTo>
                <a:cubicBezTo>
                  <a:pt x="1392672" y="239834"/>
                  <a:pt x="1403806" y="190260"/>
                  <a:pt x="1412111" y="173651"/>
                </a:cubicBezTo>
                <a:cubicBezTo>
                  <a:pt x="1422479" y="152916"/>
                  <a:pt x="1464471" y="98324"/>
                  <a:pt x="1481559" y="92628"/>
                </a:cubicBezTo>
                <a:cubicBezTo>
                  <a:pt x="1631615" y="42610"/>
                  <a:pt x="1526631" y="70587"/>
                  <a:pt x="1805650" y="57904"/>
                </a:cubicBezTo>
                <a:cubicBezTo>
                  <a:pt x="1899169" y="42318"/>
                  <a:pt x="1852832" y="53752"/>
                  <a:pt x="1944546" y="23180"/>
                </a:cubicBezTo>
                <a:lnTo>
                  <a:pt x="1979271" y="11605"/>
                </a:lnTo>
                <a:cubicBezTo>
                  <a:pt x="2017654" y="-1189"/>
                  <a:pt x="2001795" y="31"/>
                  <a:pt x="2025569" y="31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27DE106-BA68-23CB-811F-5522E192E753}"/>
              </a:ext>
            </a:extLst>
          </p:cNvPr>
          <p:cNvCxnSpPr>
            <a:cxnSpLocks/>
          </p:cNvCxnSpPr>
          <p:nvPr/>
        </p:nvCxnSpPr>
        <p:spPr>
          <a:xfrm flipV="1">
            <a:off x="6724891" y="4007175"/>
            <a:ext cx="1076808" cy="8289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58181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5243C-A6B3-5524-F473-8DFED7408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Evaluate milestone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E908E6-EF98-5029-A0E6-B430039925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1100" y="1435261"/>
            <a:ext cx="6085144" cy="5057614"/>
          </a:xfrm>
        </p:spPr>
        <p:txBody>
          <a:bodyPr>
            <a:normAutofit/>
          </a:bodyPr>
          <a:lstStyle/>
          <a:p>
            <a:pPr marL="342900" marR="0" lvl="0" indent="-3429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Gather information about state of the art to motivate our approach</a:t>
            </a:r>
          </a:p>
          <a:p>
            <a:pPr marL="342900" marR="0" lvl="0" indent="-3429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Identify post-processing needs and inputs for milestone run in order to do analysis and comparison</a:t>
            </a:r>
          </a:p>
          <a:p>
            <a:pPr marL="342900" marR="0" lvl="0" indent="-3429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Analyze flow features, quantities of interest, insights about turbine siting within milestone run</a:t>
            </a:r>
          </a:p>
          <a:p>
            <a:pPr marL="342900" marR="0" lvl="0" indent="-3429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Compare to state-of-the-art modeling options, e.g., FVCOM</a:t>
            </a:r>
            <a:endParaRPr lang="en-US" sz="3600" dirty="0">
              <a:solidFill>
                <a:srgbClr val="0070C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40A1674-44BE-FCE2-70E6-26FE13406725}"/>
              </a:ext>
            </a:extLst>
          </p:cNvPr>
          <p:cNvCxnSpPr/>
          <p:nvPr/>
        </p:nvCxnSpPr>
        <p:spPr>
          <a:xfrm>
            <a:off x="6400800" y="3429000"/>
            <a:ext cx="3426106" cy="10388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A2D0997-AFE1-C670-EBCE-22CD6F414B41}"/>
              </a:ext>
            </a:extLst>
          </p:cNvPr>
          <p:cNvCxnSpPr/>
          <p:nvPr/>
        </p:nvCxnSpPr>
        <p:spPr>
          <a:xfrm>
            <a:off x="8425646" y="1825625"/>
            <a:ext cx="3426106" cy="10388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A769922-B6A6-A0D1-00C6-02A982904E69}"/>
              </a:ext>
            </a:extLst>
          </p:cNvPr>
          <p:cNvCxnSpPr>
            <a:cxnSpLocks/>
          </p:cNvCxnSpPr>
          <p:nvPr/>
        </p:nvCxnSpPr>
        <p:spPr>
          <a:xfrm flipV="1">
            <a:off x="6400800" y="1825625"/>
            <a:ext cx="2024846" cy="160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E0B41AA-2687-9D79-F7A8-50C181216236}"/>
              </a:ext>
            </a:extLst>
          </p:cNvPr>
          <p:cNvCxnSpPr>
            <a:cxnSpLocks/>
          </p:cNvCxnSpPr>
          <p:nvPr/>
        </p:nvCxnSpPr>
        <p:spPr>
          <a:xfrm flipV="1">
            <a:off x="9826906" y="2864453"/>
            <a:ext cx="2024846" cy="160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39A5158-98E2-9C63-9B74-A5EBD4773D15}"/>
              </a:ext>
            </a:extLst>
          </p:cNvPr>
          <p:cNvCxnSpPr/>
          <p:nvPr/>
        </p:nvCxnSpPr>
        <p:spPr>
          <a:xfrm>
            <a:off x="9826906" y="4467828"/>
            <a:ext cx="0" cy="6829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0CEDBD8-61BF-86EC-C7BE-23EFF4F8499D}"/>
              </a:ext>
            </a:extLst>
          </p:cNvPr>
          <p:cNvCxnSpPr/>
          <p:nvPr/>
        </p:nvCxnSpPr>
        <p:spPr>
          <a:xfrm>
            <a:off x="6400799" y="3429000"/>
            <a:ext cx="0" cy="6829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0BBE867-5A18-B98B-458C-A5B461127E6B}"/>
              </a:ext>
            </a:extLst>
          </p:cNvPr>
          <p:cNvCxnSpPr/>
          <p:nvPr/>
        </p:nvCxnSpPr>
        <p:spPr>
          <a:xfrm>
            <a:off x="8425646" y="1825625"/>
            <a:ext cx="0" cy="682906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206FD61-656A-FB36-7546-13AAD02F7688}"/>
              </a:ext>
            </a:extLst>
          </p:cNvPr>
          <p:cNvCxnSpPr/>
          <p:nvPr/>
        </p:nvCxnSpPr>
        <p:spPr>
          <a:xfrm>
            <a:off x="11851752" y="2864453"/>
            <a:ext cx="0" cy="682906"/>
          </a:xfrm>
          <a:prstGeom prst="line">
            <a:avLst/>
          </a:prstGeom>
          <a:ln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B99B26C-BDDB-A063-2B20-B890C36DF997}"/>
              </a:ext>
            </a:extLst>
          </p:cNvPr>
          <p:cNvCxnSpPr/>
          <p:nvPr/>
        </p:nvCxnSpPr>
        <p:spPr>
          <a:xfrm>
            <a:off x="6413098" y="4099307"/>
            <a:ext cx="3426106" cy="10388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B9D3817-E570-341E-335D-BAC3CCC3157F}"/>
              </a:ext>
            </a:extLst>
          </p:cNvPr>
          <p:cNvCxnSpPr/>
          <p:nvPr/>
        </p:nvCxnSpPr>
        <p:spPr>
          <a:xfrm>
            <a:off x="8437944" y="2495932"/>
            <a:ext cx="3426106" cy="1038828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DFCF660-DFB3-1586-C602-67955176070B}"/>
              </a:ext>
            </a:extLst>
          </p:cNvPr>
          <p:cNvCxnSpPr>
            <a:cxnSpLocks/>
          </p:cNvCxnSpPr>
          <p:nvPr/>
        </p:nvCxnSpPr>
        <p:spPr>
          <a:xfrm flipV="1">
            <a:off x="6413098" y="2495932"/>
            <a:ext cx="2024846" cy="1603375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346AD4E-A539-4EF0-DB8E-CB2FD0FD6C97}"/>
              </a:ext>
            </a:extLst>
          </p:cNvPr>
          <p:cNvCxnSpPr>
            <a:cxnSpLocks/>
          </p:cNvCxnSpPr>
          <p:nvPr/>
        </p:nvCxnSpPr>
        <p:spPr>
          <a:xfrm flipV="1">
            <a:off x="9839204" y="3534760"/>
            <a:ext cx="2024846" cy="160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Freeform 20">
            <a:extLst>
              <a:ext uri="{FF2B5EF4-FFF2-40B4-BE49-F238E27FC236}">
                <a16:creationId xmlns:a16="http://schemas.microsoft.com/office/drawing/2014/main" id="{A44465E7-09B5-9367-CBA7-A2106E15078A}"/>
              </a:ext>
            </a:extLst>
          </p:cNvPr>
          <p:cNvSpPr/>
          <p:nvPr/>
        </p:nvSpPr>
        <p:spPr>
          <a:xfrm>
            <a:off x="6377651" y="3657600"/>
            <a:ext cx="3437681" cy="1043559"/>
          </a:xfrm>
          <a:custGeom>
            <a:avLst/>
            <a:gdLst>
              <a:gd name="connsiteX0" fmla="*/ 0 w 3437681"/>
              <a:gd name="connsiteY0" fmla="*/ 0 h 1043559"/>
              <a:gd name="connsiteX1" fmla="*/ 81022 w 3437681"/>
              <a:gd name="connsiteY1" fmla="*/ 46299 h 1043559"/>
              <a:gd name="connsiteX2" fmla="*/ 173620 w 3437681"/>
              <a:gd name="connsiteY2" fmla="*/ 127322 h 1043559"/>
              <a:gd name="connsiteX3" fmla="*/ 196769 w 3437681"/>
              <a:gd name="connsiteY3" fmla="*/ 162046 h 1043559"/>
              <a:gd name="connsiteX4" fmla="*/ 219919 w 3437681"/>
              <a:gd name="connsiteY4" fmla="*/ 277792 h 1043559"/>
              <a:gd name="connsiteX5" fmla="*/ 289367 w 3437681"/>
              <a:gd name="connsiteY5" fmla="*/ 324091 h 1043559"/>
              <a:gd name="connsiteX6" fmla="*/ 347240 w 3437681"/>
              <a:gd name="connsiteY6" fmla="*/ 335666 h 1043559"/>
              <a:gd name="connsiteX7" fmla="*/ 590308 w 3437681"/>
              <a:gd name="connsiteY7" fmla="*/ 324091 h 1043559"/>
              <a:gd name="connsiteX8" fmla="*/ 625033 w 3437681"/>
              <a:gd name="connsiteY8" fmla="*/ 312516 h 1043559"/>
              <a:gd name="connsiteX9" fmla="*/ 775503 w 3437681"/>
              <a:gd name="connsiteY9" fmla="*/ 324091 h 1043559"/>
              <a:gd name="connsiteX10" fmla="*/ 810227 w 3437681"/>
              <a:gd name="connsiteY10" fmla="*/ 347241 h 1043559"/>
              <a:gd name="connsiteX11" fmla="*/ 844952 w 3437681"/>
              <a:gd name="connsiteY11" fmla="*/ 428263 h 1043559"/>
              <a:gd name="connsiteX12" fmla="*/ 868101 w 3437681"/>
              <a:gd name="connsiteY12" fmla="*/ 474562 h 1043559"/>
              <a:gd name="connsiteX13" fmla="*/ 879676 w 3437681"/>
              <a:gd name="connsiteY13" fmla="*/ 509286 h 1043559"/>
              <a:gd name="connsiteX14" fmla="*/ 949124 w 3437681"/>
              <a:gd name="connsiteY14" fmla="*/ 578734 h 1043559"/>
              <a:gd name="connsiteX15" fmla="*/ 1412111 w 3437681"/>
              <a:gd name="connsiteY15" fmla="*/ 555585 h 1043559"/>
              <a:gd name="connsiteX16" fmla="*/ 1527858 w 3437681"/>
              <a:gd name="connsiteY16" fmla="*/ 532435 h 1043559"/>
              <a:gd name="connsiteX17" fmla="*/ 1597306 w 3437681"/>
              <a:gd name="connsiteY17" fmla="*/ 509286 h 1043559"/>
              <a:gd name="connsiteX18" fmla="*/ 1632030 w 3437681"/>
              <a:gd name="connsiteY18" fmla="*/ 497711 h 1043559"/>
              <a:gd name="connsiteX19" fmla="*/ 1666754 w 3437681"/>
              <a:gd name="connsiteY19" fmla="*/ 486137 h 1043559"/>
              <a:gd name="connsiteX20" fmla="*/ 1701478 w 3437681"/>
              <a:gd name="connsiteY20" fmla="*/ 497711 h 1043559"/>
              <a:gd name="connsiteX21" fmla="*/ 1747777 w 3437681"/>
              <a:gd name="connsiteY21" fmla="*/ 555585 h 1043559"/>
              <a:gd name="connsiteX22" fmla="*/ 1782501 w 3437681"/>
              <a:gd name="connsiteY22" fmla="*/ 567159 h 1043559"/>
              <a:gd name="connsiteX23" fmla="*/ 1840374 w 3437681"/>
              <a:gd name="connsiteY23" fmla="*/ 613458 h 1043559"/>
              <a:gd name="connsiteX24" fmla="*/ 1898248 w 3437681"/>
              <a:gd name="connsiteY24" fmla="*/ 659757 h 1043559"/>
              <a:gd name="connsiteX25" fmla="*/ 1967696 w 3437681"/>
              <a:gd name="connsiteY25" fmla="*/ 682906 h 1043559"/>
              <a:gd name="connsiteX26" fmla="*/ 2002420 w 3437681"/>
              <a:gd name="connsiteY26" fmla="*/ 798653 h 1043559"/>
              <a:gd name="connsiteX27" fmla="*/ 2013995 w 3437681"/>
              <a:gd name="connsiteY27" fmla="*/ 844952 h 1043559"/>
              <a:gd name="connsiteX28" fmla="*/ 2083443 w 3437681"/>
              <a:gd name="connsiteY28" fmla="*/ 879676 h 1043559"/>
              <a:gd name="connsiteX29" fmla="*/ 2338086 w 3437681"/>
              <a:gd name="connsiteY29" fmla="*/ 891251 h 1043559"/>
              <a:gd name="connsiteX30" fmla="*/ 2349660 w 3437681"/>
              <a:gd name="connsiteY30" fmla="*/ 925975 h 1043559"/>
              <a:gd name="connsiteX31" fmla="*/ 2592729 w 3437681"/>
              <a:gd name="connsiteY31" fmla="*/ 937549 h 1043559"/>
              <a:gd name="connsiteX32" fmla="*/ 2708476 w 3437681"/>
              <a:gd name="connsiteY32" fmla="*/ 949124 h 1043559"/>
              <a:gd name="connsiteX33" fmla="*/ 2777924 w 3437681"/>
              <a:gd name="connsiteY33" fmla="*/ 937549 h 1043559"/>
              <a:gd name="connsiteX34" fmla="*/ 2916820 w 3437681"/>
              <a:gd name="connsiteY34" fmla="*/ 960699 h 1043559"/>
              <a:gd name="connsiteX35" fmla="*/ 3044141 w 3437681"/>
              <a:gd name="connsiteY35" fmla="*/ 983848 h 1043559"/>
              <a:gd name="connsiteX36" fmla="*/ 3067291 w 3437681"/>
              <a:gd name="connsiteY36" fmla="*/ 1006997 h 1043559"/>
              <a:gd name="connsiteX37" fmla="*/ 3090440 w 3437681"/>
              <a:gd name="connsiteY37" fmla="*/ 1041722 h 1043559"/>
              <a:gd name="connsiteX38" fmla="*/ 3368233 w 3437681"/>
              <a:gd name="connsiteY38" fmla="*/ 1030147 h 1043559"/>
              <a:gd name="connsiteX39" fmla="*/ 3437681 w 3437681"/>
              <a:gd name="connsiteY39" fmla="*/ 1030147 h 1043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3437681" h="1043559">
                <a:moveTo>
                  <a:pt x="0" y="0"/>
                </a:moveTo>
                <a:cubicBezTo>
                  <a:pt x="27007" y="15433"/>
                  <a:pt x="54779" y="29599"/>
                  <a:pt x="81022" y="46299"/>
                </a:cubicBezTo>
                <a:cubicBezTo>
                  <a:pt x="105720" y="62016"/>
                  <a:pt x="157873" y="103702"/>
                  <a:pt x="173620" y="127322"/>
                </a:cubicBezTo>
                <a:lnTo>
                  <a:pt x="196769" y="162046"/>
                </a:lnTo>
                <a:cubicBezTo>
                  <a:pt x="198223" y="170767"/>
                  <a:pt x="211285" y="260524"/>
                  <a:pt x="219919" y="277792"/>
                </a:cubicBezTo>
                <a:cubicBezTo>
                  <a:pt x="230514" y="298983"/>
                  <a:pt x="272447" y="318451"/>
                  <a:pt x="289367" y="324091"/>
                </a:cubicBezTo>
                <a:cubicBezTo>
                  <a:pt x="308031" y="330312"/>
                  <a:pt x="327949" y="331808"/>
                  <a:pt x="347240" y="335666"/>
                </a:cubicBezTo>
                <a:cubicBezTo>
                  <a:pt x="428263" y="331808"/>
                  <a:pt x="509474" y="330827"/>
                  <a:pt x="590308" y="324091"/>
                </a:cubicBezTo>
                <a:cubicBezTo>
                  <a:pt x="602467" y="323078"/>
                  <a:pt x="612832" y="312516"/>
                  <a:pt x="625033" y="312516"/>
                </a:cubicBezTo>
                <a:cubicBezTo>
                  <a:pt x="675338" y="312516"/>
                  <a:pt x="725346" y="320233"/>
                  <a:pt x="775503" y="324091"/>
                </a:cubicBezTo>
                <a:cubicBezTo>
                  <a:pt x="787078" y="331808"/>
                  <a:pt x="800390" y="337404"/>
                  <a:pt x="810227" y="347241"/>
                </a:cubicBezTo>
                <a:cubicBezTo>
                  <a:pt x="843067" y="380081"/>
                  <a:pt x="829013" y="385759"/>
                  <a:pt x="844952" y="428263"/>
                </a:cubicBezTo>
                <a:cubicBezTo>
                  <a:pt x="851010" y="444419"/>
                  <a:pt x="861304" y="458703"/>
                  <a:pt x="868101" y="474562"/>
                </a:cubicBezTo>
                <a:cubicBezTo>
                  <a:pt x="872907" y="485776"/>
                  <a:pt x="874220" y="498373"/>
                  <a:pt x="879676" y="509286"/>
                </a:cubicBezTo>
                <a:cubicBezTo>
                  <a:pt x="899986" y="549907"/>
                  <a:pt x="910472" y="549745"/>
                  <a:pt x="949124" y="578734"/>
                </a:cubicBezTo>
                <a:cubicBezTo>
                  <a:pt x="1125635" y="572647"/>
                  <a:pt x="1250088" y="574646"/>
                  <a:pt x="1412111" y="555585"/>
                </a:cubicBezTo>
                <a:cubicBezTo>
                  <a:pt x="1446426" y="551548"/>
                  <a:pt x="1493242" y="542820"/>
                  <a:pt x="1527858" y="532435"/>
                </a:cubicBezTo>
                <a:cubicBezTo>
                  <a:pt x="1551230" y="525423"/>
                  <a:pt x="1574157" y="517002"/>
                  <a:pt x="1597306" y="509286"/>
                </a:cubicBezTo>
                <a:lnTo>
                  <a:pt x="1632030" y="497711"/>
                </a:lnTo>
                <a:lnTo>
                  <a:pt x="1666754" y="486137"/>
                </a:lnTo>
                <a:cubicBezTo>
                  <a:pt x="1678329" y="489995"/>
                  <a:pt x="1691016" y="491434"/>
                  <a:pt x="1701478" y="497711"/>
                </a:cubicBezTo>
                <a:cubicBezTo>
                  <a:pt x="1748667" y="526024"/>
                  <a:pt x="1700468" y="517739"/>
                  <a:pt x="1747777" y="555585"/>
                </a:cubicBezTo>
                <a:cubicBezTo>
                  <a:pt x="1757304" y="563207"/>
                  <a:pt x="1770926" y="563301"/>
                  <a:pt x="1782501" y="567159"/>
                </a:cubicBezTo>
                <a:cubicBezTo>
                  <a:pt x="1838391" y="623051"/>
                  <a:pt x="1767373" y="555057"/>
                  <a:pt x="1840374" y="613458"/>
                </a:cubicBezTo>
                <a:cubicBezTo>
                  <a:pt x="1870439" y="637510"/>
                  <a:pt x="1858168" y="641944"/>
                  <a:pt x="1898248" y="659757"/>
                </a:cubicBezTo>
                <a:cubicBezTo>
                  <a:pt x="1920546" y="669667"/>
                  <a:pt x="1967696" y="682906"/>
                  <a:pt x="1967696" y="682906"/>
                </a:cubicBezTo>
                <a:cubicBezTo>
                  <a:pt x="2014654" y="729866"/>
                  <a:pt x="1984320" y="690056"/>
                  <a:pt x="2002420" y="798653"/>
                </a:cubicBezTo>
                <a:cubicBezTo>
                  <a:pt x="2005035" y="814345"/>
                  <a:pt x="2005171" y="831716"/>
                  <a:pt x="2013995" y="844952"/>
                </a:cubicBezTo>
                <a:cubicBezTo>
                  <a:pt x="2022787" y="858140"/>
                  <a:pt x="2067170" y="878374"/>
                  <a:pt x="2083443" y="879676"/>
                </a:cubicBezTo>
                <a:cubicBezTo>
                  <a:pt x="2168141" y="886452"/>
                  <a:pt x="2253205" y="887393"/>
                  <a:pt x="2338086" y="891251"/>
                </a:cubicBezTo>
                <a:cubicBezTo>
                  <a:pt x="2341944" y="902826"/>
                  <a:pt x="2343383" y="915513"/>
                  <a:pt x="2349660" y="925975"/>
                </a:cubicBezTo>
                <a:cubicBezTo>
                  <a:pt x="2395612" y="1002562"/>
                  <a:pt x="2557701" y="939393"/>
                  <a:pt x="2592729" y="937549"/>
                </a:cubicBezTo>
                <a:cubicBezTo>
                  <a:pt x="2631311" y="941407"/>
                  <a:pt x="2669701" y="949124"/>
                  <a:pt x="2708476" y="949124"/>
                </a:cubicBezTo>
                <a:cubicBezTo>
                  <a:pt x="2731945" y="949124"/>
                  <a:pt x="2754491" y="936247"/>
                  <a:pt x="2777924" y="937549"/>
                </a:cubicBezTo>
                <a:cubicBezTo>
                  <a:pt x="2824789" y="940153"/>
                  <a:pt x="2870577" y="952657"/>
                  <a:pt x="2916820" y="960699"/>
                </a:cubicBezTo>
                <a:lnTo>
                  <a:pt x="3044141" y="983848"/>
                </a:lnTo>
                <a:cubicBezTo>
                  <a:pt x="3051858" y="991564"/>
                  <a:pt x="3060474" y="998476"/>
                  <a:pt x="3067291" y="1006997"/>
                </a:cubicBezTo>
                <a:cubicBezTo>
                  <a:pt x="3075981" y="1017860"/>
                  <a:pt x="3076570" y="1040655"/>
                  <a:pt x="3090440" y="1041722"/>
                </a:cubicBezTo>
                <a:cubicBezTo>
                  <a:pt x="3182845" y="1048830"/>
                  <a:pt x="3275606" y="1033235"/>
                  <a:pt x="3368233" y="1030147"/>
                </a:cubicBezTo>
                <a:cubicBezTo>
                  <a:pt x="3391369" y="1029376"/>
                  <a:pt x="3414532" y="1030147"/>
                  <a:pt x="3437681" y="1030147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3C635F6C-7BA0-3997-9B25-7D092E0F2A1E}"/>
              </a:ext>
            </a:extLst>
          </p:cNvPr>
          <p:cNvSpPr/>
          <p:nvPr/>
        </p:nvSpPr>
        <p:spPr>
          <a:xfrm>
            <a:off x="9815332" y="3298754"/>
            <a:ext cx="2025569" cy="1400568"/>
          </a:xfrm>
          <a:custGeom>
            <a:avLst/>
            <a:gdLst>
              <a:gd name="connsiteX0" fmla="*/ 0 w 2025569"/>
              <a:gd name="connsiteY0" fmla="*/ 1400568 h 1400568"/>
              <a:gd name="connsiteX1" fmla="*/ 92597 w 2025569"/>
              <a:gd name="connsiteY1" fmla="*/ 1388993 h 1400568"/>
              <a:gd name="connsiteX2" fmla="*/ 162045 w 2025569"/>
              <a:gd name="connsiteY2" fmla="*/ 1365843 h 1400568"/>
              <a:gd name="connsiteX3" fmla="*/ 185195 w 2025569"/>
              <a:gd name="connsiteY3" fmla="*/ 1342694 h 1400568"/>
              <a:gd name="connsiteX4" fmla="*/ 243068 w 2025569"/>
              <a:gd name="connsiteY4" fmla="*/ 1296395 h 1400568"/>
              <a:gd name="connsiteX5" fmla="*/ 289367 w 2025569"/>
              <a:gd name="connsiteY5" fmla="*/ 1238522 h 1400568"/>
              <a:gd name="connsiteX6" fmla="*/ 405114 w 2025569"/>
              <a:gd name="connsiteY6" fmla="*/ 1203798 h 1400568"/>
              <a:gd name="connsiteX7" fmla="*/ 439838 w 2025569"/>
              <a:gd name="connsiteY7" fmla="*/ 1192223 h 1400568"/>
              <a:gd name="connsiteX8" fmla="*/ 509286 w 2025569"/>
              <a:gd name="connsiteY8" fmla="*/ 1145924 h 1400568"/>
              <a:gd name="connsiteX9" fmla="*/ 544010 w 2025569"/>
              <a:gd name="connsiteY9" fmla="*/ 1122775 h 1400568"/>
              <a:gd name="connsiteX10" fmla="*/ 578734 w 2025569"/>
              <a:gd name="connsiteY10" fmla="*/ 1099626 h 1400568"/>
              <a:gd name="connsiteX11" fmla="*/ 636607 w 2025569"/>
              <a:gd name="connsiteY11" fmla="*/ 1053327 h 1400568"/>
              <a:gd name="connsiteX12" fmla="*/ 682906 w 2025569"/>
              <a:gd name="connsiteY12" fmla="*/ 983879 h 1400568"/>
              <a:gd name="connsiteX13" fmla="*/ 706055 w 2025569"/>
              <a:gd name="connsiteY13" fmla="*/ 949155 h 1400568"/>
              <a:gd name="connsiteX14" fmla="*/ 798653 w 2025569"/>
              <a:gd name="connsiteY14" fmla="*/ 879707 h 1400568"/>
              <a:gd name="connsiteX15" fmla="*/ 833377 w 2025569"/>
              <a:gd name="connsiteY15" fmla="*/ 868132 h 1400568"/>
              <a:gd name="connsiteX16" fmla="*/ 844952 w 2025569"/>
              <a:gd name="connsiteY16" fmla="*/ 833408 h 1400568"/>
              <a:gd name="connsiteX17" fmla="*/ 960698 w 2025569"/>
              <a:gd name="connsiteY17" fmla="*/ 821833 h 1400568"/>
              <a:gd name="connsiteX18" fmla="*/ 995422 w 2025569"/>
              <a:gd name="connsiteY18" fmla="*/ 833408 h 1400568"/>
              <a:gd name="connsiteX19" fmla="*/ 1111169 w 2025569"/>
              <a:gd name="connsiteY19" fmla="*/ 810259 h 1400568"/>
              <a:gd name="connsiteX20" fmla="*/ 1169043 w 2025569"/>
              <a:gd name="connsiteY20" fmla="*/ 763960 h 1400568"/>
              <a:gd name="connsiteX21" fmla="*/ 1180617 w 2025569"/>
              <a:gd name="connsiteY21" fmla="*/ 729236 h 1400568"/>
              <a:gd name="connsiteX22" fmla="*/ 1215341 w 2025569"/>
              <a:gd name="connsiteY22" fmla="*/ 578765 h 1400568"/>
              <a:gd name="connsiteX23" fmla="*/ 1226916 w 2025569"/>
              <a:gd name="connsiteY23" fmla="*/ 544041 h 1400568"/>
              <a:gd name="connsiteX24" fmla="*/ 1250065 w 2025569"/>
              <a:gd name="connsiteY24" fmla="*/ 509317 h 1400568"/>
              <a:gd name="connsiteX25" fmla="*/ 1261640 w 2025569"/>
              <a:gd name="connsiteY25" fmla="*/ 474593 h 1400568"/>
              <a:gd name="connsiteX26" fmla="*/ 1319514 w 2025569"/>
              <a:gd name="connsiteY26" fmla="*/ 416719 h 1400568"/>
              <a:gd name="connsiteX27" fmla="*/ 1354238 w 2025569"/>
              <a:gd name="connsiteY27" fmla="*/ 312547 h 1400568"/>
              <a:gd name="connsiteX28" fmla="*/ 1365812 w 2025569"/>
              <a:gd name="connsiteY28" fmla="*/ 277823 h 1400568"/>
              <a:gd name="connsiteX29" fmla="*/ 1388962 w 2025569"/>
              <a:gd name="connsiteY29" fmla="*/ 254674 h 1400568"/>
              <a:gd name="connsiteX30" fmla="*/ 1412111 w 2025569"/>
              <a:gd name="connsiteY30" fmla="*/ 173651 h 1400568"/>
              <a:gd name="connsiteX31" fmla="*/ 1481559 w 2025569"/>
              <a:gd name="connsiteY31" fmla="*/ 92628 h 1400568"/>
              <a:gd name="connsiteX32" fmla="*/ 1805650 w 2025569"/>
              <a:gd name="connsiteY32" fmla="*/ 57904 h 1400568"/>
              <a:gd name="connsiteX33" fmla="*/ 1944546 w 2025569"/>
              <a:gd name="connsiteY33" fmla="*/ 23180 h 1400568"/>
              <a:gd name="connsiteX34" fmla="*/ 1979271 w 2025569"/>
              <a:gd name="connsiteY34" fmla="*/ 11605 h 1400568"/>
              <a:gd name="connsiteX35" fmla="*/ 2025569 w 2025569"/>
              <a:gd name="connsiteY35" fmla="*/ 31 h 1400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2025569" h="1400568">
                <a:moveTo>
                  <a:pt x="0" y="1400568"/>
                </a:moveTo>
                <a:cubicBezTo>
                  <a:pt x="30866" y="1396710"/>
                  <a:pt x="62182" y="1395511"/>
                  <a:pt x="92597" y="1388993"/>
                </a:cubicBezTo>
                <a:cubicBezTo>
                  <a:pt x="116457" y="1383880"/>
                  <a:pt x="162045" y="1365843"/>
                  <a:pt x="162045" y="1365843"/>
                </a:cubicBezTo>
                <a:cubicBezTo>
                  <a:pt x="169762" y="1358127"/>
                  <a:pt x="176673" y="1349511"/>
                  <a:pt x="185195" y="1342694"/>
                </a:cubicBezTo>
                <a:cubicBezTo>
                  <a:pt x="218619" y="1315955"/>
                  <a:pt x="218225" y="1327449"/>
                  <a:pt x="243068" y="1296395"/>
                </a:cubicBezTo>
                <a:cubicBezTo>
                  <a:pt x="253974" y="1282762"/>
                  <a:pt x="270733" y="1247839"/>
                  <a:pt x="289367" y="1238522"/>
                </a:cubicBezTo>
                <a:cubicBezTo>
                  <a:pt x="326041" y="1220185"/>
                  <a:pt x="366347" y="1214875"/>
                  <a:pt x="405114" y="1203798"/>
                </a:cubicBezTo>
                <a:cubicBezTo>
                  <a:pt x="416845" y="1200446"/>
                  <a:pt x="429173" y="1198148"/>
                  <a:pt x="439838" y="1192223"/>
                </a:cubicBezTo>
                <a:cubicBezTo>
                  <a:pt x="464159" y="1178711"/>
                  <a:pt x="486137" y="1161357"/>
                  <a:pt x="509286" y="1145924"/>
                </a:cubicBezTo>
                <a:lnTo>
                  <a:pt x="544010" y="1122775"/>
                </a:lnTo>
                <a:cubicBezTo>
                  <a:pt x="555585" y="1115059"/>
                  <a:pt x="568898" y="1109463"/>
                  <a:pt x="578734" y="1099626"/>
                </a:cubicBezTo>
                <a:cubicBezTo>
                  <a:pt x="611719" y="1066639"/>
                  <a:pt x="592803" y="1082529"/>
                  <a:pt x="636607" y="1053327"/>
                </a:cubicBezTo>
                <a:lnTo>
                  <a:pt x="682906" y="983879"/>
                </a:lnTo>
                <a:cubicBezTo>
                  <a:pt x="690622" y="972304"/>
                  <a:pt x="696218" y="958992"/>
                  <a:pt x="706055" y="949155"/>
                </a:cubicBezTo>
                <a:cubicBezTo>
                  <a:pt x="733478" y="921732"/>
                  <a:pt x="759387" y="892796"/>
                  <a:pt x="798653" y="879707"/>
                </a:cubicBezTo>
                <a:lnTo>
                  <a:pt x="833377" y="868132"/>
                </a:lnTo>
                <a:cubicBezTo>
                  <a:pt x="837235" y="856557"/>
                  <a:pt x="837330" y="842935"/>
                  <a:pt x="844952" y="833408"/>
                </a:cubicBezTo>
                <a:cubicBezTo>
                  <a:pt x="878326" y="791691"/>
                  <a:pt x="913069" y="815029"/>
                  <a:pt x="960698" y="821833"/>
                </a:cubicBezTo>
                <a:cubicBezTo>
                  <a:pt x="972273" y="825691"/>
                  <a:pt x="983221" y="833408"/>
                  <a:pt x="995422" y="833408"/>
                </a:cubicBezTo>
                <a:cubicBezTo>
                  <a:pt x="1048619" y="833408"/>
                  <a:pt x="1068408" y="824512"/>
                  <a:pt x="1111169" y="810259"/>
                </a:cubicBezTo>
                <a:cubicBezTo>
                  <a:pt x="1126937" y="799747"/>
                  <a:pt x="1158049" y="782283"/>
                  <a:pt x="1169043" y="763960"/>
                </a:cubicBezTo>
                <a:cubicBezTo>
                  <a:pt x="1175320" y="753498"/>
                  <a:pt x="1176759" y="740811"/>
                  <a:pt x="1180617" y="729236"/>
                </a:cubicBezTo>
                <a:cubicBezTo>
                  <a:pt x="1195643" y="624059"/>
                  <a:pt x="1183565" y="674092"/>
                  <a:pt x="1215341" y="578765"/>
                </a:cubicBezTo>
                <a:cubicBezTo>
                  <a:pt x="1219199" y="567190"/>
                  <a:pt x="1220148" y="554193"/>
                  <a:pt x="1226916" y="544041"/>
                </a:cubicBezTo>
                <a:cubicBezTo>
                  <a:pt x="1234632" y="532466"/>
                  <a:pt x="1243844" y="521759"/>
                  <a:pt x="1250065" y="509317"/>
                </a:cubicBezTo>
                <a:cubicBezTo>
                  <a:pt x="1255521" y="498404"/>
                  <a:pt x="1254319" y="484354"/>
                  <a:pt x="1261640" y="474593"/>
                </a:cubicBezTo>
                <a:cubicBezTo>
                  <a:pt x="1278009" y="452767"/>
                  <a:pt x="1319514" y="416719"/>
                  <a:pt x="1319514" y="416719"/>
                </a:cubicBezTo>
                <a:lnTo>
                  <a:pt x="1354238" y="312547"/>
                </a:lnTo>
                <a:cubicBezTo>
                  <a:pt x="1358096" y="300972"/>
                  <a:pt x="1357185" y="286450"/>
                  <a:pt x="1365812" y="277823"/>
                </a:cubicBezTo>
                <a:lnTo>
                  <a:pt x="1388962" y="254674"/>
                </a:lnTo>
                <a:cubicBezTo>
                  <a:pt x="1392672" y="239834"/>
                  <a:pt x="1403806" y="190260"/>
                  <a:pt x="1412111" y="173651"/>
                </a:cubicBezTo>
                <a:cubicBezTo>
                  <a:pt x="1422479" y="152916"/>
                  <a:pt x="1464471" y="98324"/>
                  <a:pt x="1481559" y="92628"/>
                </a:cubicBezTo>
                <a:cubicBezTo>
                  <a:pt x="1631615" y="42610"/>
                  <a:pt x="1526631" y="70587"/>
                  <a:pt x="1805650" y="57904"/>
                </a:cubicBezTo>
                <a:cubicBezTo>
                  <a:pt x="1899169" y="42318"/>
                  <a:pt x="1852832" y="53752"/>
                  <a:pt x="1944546" y="23180"/>
                </a:cubicBezTo>
                <a:lnTo>
                  <a:pt x="1979271" y="11605"/>
                </a:lnTo>
                <a:cubicBezTo>
                  <a:pt x="2017654" y="-1189"/>
                  <a:pt x="2001795" y="31"/>
                  <a:pt x="2025569" y="31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27DE106-BA68-23CB-811F-5522E192E753}"/>
              </a:ext>
            </a:extLst>
          </p:cNvPr>
          <p:cNvCxnSpPr>
            <a:cxnSpLocks/>
          </p:cNvCxnSpPr>
          <p:nvPr/>
        </p:nvCxnSpPr>
        <p:spPr>
          <a:xfrm flipV="1">
            <a:off x="6724891" y="4007175"/>
            <a:ext cx="1076808" cy="8289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76559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E9A3C49-F81E-5604-1B80-0B8A0B960AB7}"/>
              </a:ext>
            </a:extLst>
          </p:cNvPr>
          <p:cNvSpPr/>
          <p:nvPr/>
        </p:nvSpPr>
        <p:spPr>
          <a:xfrm>
            <a:off x="158183" y="509286"/>
            <a:ext cx="3873660" cy="2905246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u="sng" dirty="0"/>
              <a:t>April</a:t>
            </a:r>
          </a:p>
          <a:p>
            <a:pPr algn="ctr"/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AMR-Wind features and refactoring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1 basic V&amp;V case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Set up test bed domain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0E85177-8B91-9723-A58E-E767BA2DDA04}"/>
              </a:ext>
            </a:extLst>
          </p:cNvPr>
          <p:cNvSpPr/>
          <p:nvPr/>
        </p:nvSpPr>
        <p:spPr>
          <a:xfrm>
            <a:off x="4159170" y="523754"/>
            <a:ext cx="3873660" cy="290524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u="sng" dirty="0"/>
              <a:t>May</a:t>
            </a:r>
          </a:p>
          <a:p>
            <a:pPr algn="ctr"/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Intermediate V&amp;V cases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Get FVCOM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Start to use test bed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27819B2-D4DE-8C9A-E374-9F7871713E7A}"/>
              </a:ext>
            </a:extLst>
          </p:cNvPr>
          <p:cNvSpPr/>
          <p:nvPr/>
        </p:nvSpPr>
        <p:spPr>
          <a:xfrm>
            <a:off x="8160158" y="509286"/>
            <a:ext cx="3873660" cy="290524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u="sng" dirty="0"/>
              <a:t>June</a:t>
            </a:r>
          </a:p>
          <a:p>
            <a:pPr algn="ctr"/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Remaining AMR-Wind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Remaining V&amp;V cases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Demonstrate / test sea level rise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63E2826-2858-95C1-BB60-AE54DDE94F3C}"/>
              </a:ext>
            </a:extLst>
          </p:cNvPr>
          <p:cNvSpPr/>
          <p:nvPr/>
        </p:nvSpPr>
        <p:spPr>
          <a:xfrm>
            <a:off x="158182" y="3789744"/>
            <a:ext cx="3873660" cy="290524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u="sng" dirty="0"/>
              <a:t>July</a:t>
            </a:r>
          </a:p>
          <a:p>
            <a:pPr algn="ctr"/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Validate sea level rise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Finish any tasks left over from previous months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533274A-8122-C310-3829-7F73AF0D3F83}"/>
              </a:ext>
            </a:extLst>
          </p:cNvPr>
          <p:cNvSpPr/>
          <p:nvPr/>
        </p:nvSpPr>
        <p:spPr>
          <a:xfrm>
            <a:off x="4159170" y="3789744"/>
            <a:ext cx="3873660" cy="2905246"/>
          </a:xfrm>
          <a:prstGeom prst="roundRect">
            <a:avLst/>
          </a:prstGeom>
          <a:ln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u="sng" dirty="0"/>
              <a:t>August</a:t>
            </a:r>
          </a:p>
          <a:p>
            <a:pPr algn="ctr"/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Define details of milestone run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Run coarse-resolution milestone case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Obtain field data for milestone validation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F45300A-09D6-D1D4-D265-2C56DE4A4BD1}"/>
              </a:ext>
            </a:extLst>
          </p:cNvPr>
          <p:cNvSpPr/>
          <p:nvPr/>
        </p:nvSpPr>
        <p:spPr>
          <a:xfrm>
            <a:off x="8160158" y="3789744"/>
            <a:ext cx="3873660" cy="2905246"/>
          </a:xfrm>
          <a:prstGeom prst="roundRect">
            <a:avLst/>
          </a:prstGeom>
          <a:solidFill>
            <a:srgbClr val="941100"/>
          </a:solidFill>
          <a:ln>
            <a:solidFill>
              <a:srgbClr val="45000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u="sng" dirty="0"/>
              <a:t>September</a:t>
            </a:r>
          </a:p>
          <a:p>
            <a:pPr algn="ctr"/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Run full-resolution milestone case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Understand state of the art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Analyze milestone results and compare</a:t>
            </a:r>
          </a:p>
        </p:txBody>
      </p:sp>
    </p:spTree>
    <p:extLst>
      <p:ext uri="{BB962C8B-B14F-4D97-AF65-F5344CB8AC3E}">
        <p14:creationId xmlns:p14="http://schemas.microsoft.com/office/powerpoint/2010/main" val="35271121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5965d95-ecc0-4720-b759-1f33c42ed7da}" enabled="1" method="Standard" siteId="{a0f29d7e-28cd-4f54-8442-7885aee7c080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561</Words>
  <Application>Microsoft Macintosh PowerPoint</Application>
  <PresentationFormat>Widescreen</PresentationFormat>
  <Paragraphs>96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Courier New</vt:lpstr>
      <vt:lpstr>Symbol</vt:lpstr>
      <vt:lpstr>Office Theme</vt:lpstr>
      <vt:lpstr>Estuary Flows - Planning</vt:lpstr>
      <vt:lpstr>Milestone</vt:lpstr>
      <vt:lpstr>Rosario Straight, WA</vt:lpstr>
      <vt:lpstr>Functional Description of Milestone</vt:lpstr>
      <vt:lpstr>Task Categories</vt:lpstr>
      <vt:lpstr>Capabilities that need V&amp;V</vt:lpstr>
      <vt:lpstr>Required capabilities</vt:lpstr>
      <vt:lpstr>Practicing similar case</vt:lpstr>
      <vt:lpstr>Data gathering and prep</vt:lpstr>
      <vt:lpstr>Evaluate milestone results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Estuary Flows - Planning</dc:title>
  <dc:creator>Kuhn, Michael</dc:creator>
  <cp:lastModifiedBy>Kuhn, Michael</cp:lastModifiedBy>
  <cp:revision>13</cp:revision>
  <dcterms:created xsi:type="dcterms:W3CDTF">2026-04-07T14:33:58Z</dcterms:created>
  <dcterms:modified xsi:type="dcterms:W3CDTF">2026-04-07T15:39:22Z</dcterms:modified>
</cp:coreProperties>
</file>